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0" r:id="rId16"/>
    <p:sldId id="281" r:id="rId17"/>
    <p:sldId id="283" r:id="rId18"/>
    <p:sldId id="270" r:id="rId19"/>
    <p:sldId id="274" r:id="rId20"/>
    <p:sldId id="275" r:id="rId21"/>
    <p:sldId id="276" r:id="rId22"/>
    <p:sldId id="285" r:id="rId23"/>
    <p:sldId id="286" r:id="rId24"/>
    <p:sldId id="271" r:id="rId25"/>
    <p:sldId id="272" r:id="rId26"/>
    <p:sldId id="273" r:id="rId27"/>
    <p:sldId id="277" r:id="rId28"/>
    <p:sldId id="279" r:id="rId29"/>
    <p:sldId id="278" r:id="rId30"/>
    <p:sldId id="284" r:id="rId31"/>
  </p:sldIdLst>
  <p:sldSz cx="12192000" cy="6858000"/>
  <p:notesSz cx="6858000" cy="9144000"/>
  <p:embeddedFontLst>
    <p:embeddedFont>
      <p:font typeface="Quattrocento Sans" panose="020B0502050000020003" pitchFamily="34" charset="0"/>
      <p:regular r:id="rId33"/>
      <p:bold r:id="rId34"/>
      <p:italic r:id="rId35"/>
      <p:boldItalic r:id="rId36"/>
    </p:embeddedFont>
    <p:embeddedFont>
      <p:font typeface="Urbanist" panose="020B060402020202020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1" roundtripDataSignature="AMtx7mh8fRH84jwkWHqUNJCnz+ic3tz5U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ÀI LÊ ĐỨC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customschemas.google.com/relationships/presentationmetadata" Target="metadata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5-20T07:03:17.420" idx="1">
    <p:pos x="817" y="1065"/>
    <p:text>thêm hình sleep apnea và loạn nhịp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commentPostId="AAAB60QBSHY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9" name="Google Shape;23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8" name="Google Shape;25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4" name="Google Shape;27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9" name="Google Shape;28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e110e548b2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3e110e548b2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g3e110e548b2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77a92901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g3f77a929014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g3f77a929014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2" name="Google Shape;33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e167eeff32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g3e167eeff32_0_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7" name="Google Shape;347;g3e167eeff32_0_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5" name="Google Shape;35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6" name="Google Shape;35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2" name="Google Shape;38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0" name="Google Shape;39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1" name="Google Shape;39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0" name="Google Shape;40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5" name="Google Shape;42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6" name="Google Shape;42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>
          <a:extLst>
            <a:ext uri="{FF2B5EF4-FFF2-40B4-BE49-F238E27FC236}">
              <a16:creationId xmlns:a16="http://schemas.microsoft.com/office/drawing/2014/main" id="{12A4A50B-A344-1616-F164-BDE2FE1E3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:notes">
            <a:extLst>
              <a:ext uri="{FF2B5EF4-FFF2-40B4-BE49-F238E27FC236}">
                <a16:creationId xmlns:a16="http://schemas.microsoft.com/office/drawing/2014/main" id="{CF070BCA-080F-6AA4-BFBE-CA2C840F90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1:notes">
            <a:extLst>
              <a:ext uri="{FF2B5EF4-FFF2-40B4-BE49-F238E27FC236}">
                <a16:creationId xmlns:a16="http://schemas.microsoft.com/office/drawing/2014/main" id="{5E1089D7-EA2C-AC7A-D875-E388A7052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9" name="Google Shape;239;p1:notes">
            <a:extLst>
              <a:ext uri="{FF2B5EF4-FFF2-40B4-BE49-F238E27FC236}">
                <a16:creationId xmlns:a16="http://schemas.microsoft.com/office/drawing/2014/main" id="{67A48C2E-C701-118E-3BE5-93A72328F1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10866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4E7E5670-38FF-4B8A-D816-99B8E3AF5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:notes">
            <a:extLst>
              <a:ext uri="{FF2B5EF4-FFF2-40B4-BE49-F238E27FC236}">
                <a16:creationId xmlns:a16="http://schemas.microsoft.com/office/drawing/2014/main" id="{024802C4-10D8-B856-9941-2CBBD4303F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2:notes">
            <a:extLst>
              <a:ext uri="{FF2B5EF4-FFF2-40B4-BE49-F238E27FC236}">
                <a16:creationId xmlns:a16="http://schemas.microsoft.com/office/drawing/2014/main" id="{0F5E6B43-1FBC-F07D-1684-2A8731B459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8" name="Google Shape;258;p2:notes">
            <a:extLst>
              <a:ext uri="{FF2B5EF4-FFF2-40B4-BE49-F238E27FC236}">
                <a16:creationId xmlns:a16="http://schemas.microsoft.com/office/drawing/2014/main" id="{CB855917-4E4E-DDCF-5177-06AAF72C40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19747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DD17E3F0-4C86-8837-7E8C-DDA16B844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e110e548b2_0_23:notes">
            <a:extLst>
              <a:ext uri="{FF2B5EF4-FFF2-40B4-BE49-F238E27FC236}">
                <a16:creationId xmlns:a16="http://schemas.microsoft.com/office/drawing/2014/main" id="{EA17959C-C450-F5C9-0689-740657449B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3e110e548b2_0_23:notes">
            <a:extLst>
              <a:ext uri="{FF2B5EF4-FFF2-40B4-BE49-F238E27FC236}">
                <a16:creationId xmlns:a16="http://schemas.microsoft.com/office/drawing/2014/main" id="{BACBD312-9F69-6603-1F0D-940B96D334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g3e110e548b2_0_23:notes">
            <a:extLst>
              <a:ext uri="{FF2B5EF4-FFF2-40B4-BE49-F238E27FC236}">
                <a16:creationId xmlns:a16="http://schemas.microsoft.com/office/drawing/2014/main" id="{CE98F480-C433-F170-DB7E-32D30217883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43064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>
          <a:extLst>
            <a:ext uri="{FF2B5EF4-FFF2-40B4-BE49-F238E27FC236}">
              <a16:creationId xmlns:a16="http://schemas.microsoft.com/office/drawing/2014/main" id="{3196CEBE-2399-2995-24CD-07E2210B7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:notes">
            <a:extLst>
              <a:ext uri="{FF2B5EF4-FFF2-40B4-BE49-F238E27FC236}">
                <a16:creationId xmlns:a16="http://schemas.microsoft.com/office/drawing/2014/main" id="{D4E31D15-775B-E9A6-8FB3-608346AAC8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5:notes">
            <a:extLst>
              <a:ext uri="{FF2B5EF4-FFF2-40B4-BE49-F238E27FC236}">
                <a16:creationId xmlns:a16="http://schemas.microsoft.com/office/drawing/2014/main" id="{9704B401-50A1-A12D-1CCD-B1435A3E87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5:notes">
            <a:extLst>
              <a:ext uri="{FF2B5EF4-FFF2-40B4-BE49-F238E27FC236}">
                <a16:creationId xmlns:a16="http://schemas.microsoft.com/office/drawing/2014/main" id="{34A1A39E-B4AF-49DC-D929-2372A94893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47906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>
          <a:extLst>
            <a:ext uri="{FF2B5EF4-FFF2-40B4-BE49-F238E27FC236}">
              <a16:creationId xmlns:a16="http://schemas.microsoft.com/office/drawing/2014/main" id="{18367F04-64FF-AE8F-AEAB-2781D3CD7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:notes">
            <a:extLst>
              <a:ext uri="{FF2B5EF4-FFF2-40B4-BE49-F238E27FC236}">
                <a16:creationId xmlns:a16="http://schemas.microsoft.com/office/drawing/2014/main" id="{40940AE5-2DD1-3532-DBB1-E1F61BBE60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5:notes">
            <a:extLst>
              <a:ext uri="{FF2B5EF4-FFF2-40B4-BE49-F238E27FC236}">
                <a16:creationId xmlns:a16="http://schemas.microsoft.com/office/drawing/2014/main" id="{9D506B77-DA4A-F808-01DA-7C91BBC9AD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5:notes">
            <a:extLst>
              <a:ext uri="{FF2B5EF4-FFF2-40B4-BE49-F238E27FC236}">
                <a16:creationId xmlns:a16="http://schemas.microsoft.com/office/drawing/2014/main" id="{38FBBBA4-E028-A89E-9341-EA5BF5EE28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33706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>
          <a:extLst>
            <a:ext uri="{FF2B5EF4-FFF2-40B4-BE49-F238E27FC236}">
              <a16:creationId xmlns:a16="http://schemas.microsoft.com/office/drawing/2014/main" id="{9A27A80B-9577-3C04-A79E-A03F1F2D7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:notes">
            <a:extLst>
              <a:ext uri="{FF2B5EF4-FFF2-40B4-BE49-F238E27FC236}">
                <a16:creationId xmlns:a16="http://schemas.microsoft.com/office/drawing/2014/main" id="{338F6411-E8EA-E2CE-7D3A-0E77558F0E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5:notes">
            <a:extLst>
              <a:ext uri="{FF2B5EF4-FFF2-40B4-BE49-F238E27FC236}">
                <a16:creationId xmlns:a16="http://schemas.microsoft.com/office/drawing/2014/main" id="{C16633F4-5D5E-174F-9AF9-6EBDAFC7F7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5:notes">
            <a:extLst>
              <a:ext uri="{FF2B5EF4-FFF2-40B4-BE49-F238E27FC236}">
                <a16:creationId xmlns:a16="http://schemas.microsoft.com/office/drawing/2014/main" id="{1669F0FB-D27A-CA58-31AC-5F2AE2D093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65477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>
          <a:extLst>
            <a:ext uri="{FF2B5EF4-FFF2-40B4-BE49-F238E27FC236}">
              <a16:creationId xmlns:a16="http://schemas.microsoft.com/office/drawing/2014/main" id="{E02B6B19-1DEF-8A3E-6678-1BA29CB9C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:notes">
            <a:extLst>
              <a:ext uri="{FF2B5EF4-FFF2-40B4-BE49-F238E27FC236}">
                <a16:creationId xmlns:a16="http://schemas.microsoft.com/office/drawing/2014/main" id="{BC4E6E2D-D352-2C15-221D-C90912F065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5:notes">
            <a:extLst>
              <a:ext uri="{FF2B5EF4-FFF2-40B4-BE49-F238E27FC236}">
                <a16:creationId xmlns:a16="http://schemas.microsoft.com/office/drawing/2014/main" id="{4C0A88C0-8E03-9870-C3B4-175E4D56DE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5:notes">
            <a:extLst>
              <a:ext uri="{FF2B5EF4-FFF2-40B4-BE49-F238E27FC236}">
                <a16:creationId xmlns:a16="http://schemas.microsoft.com/office/drawing/2014/main" id="{B018EAFB-6172-896D-CCBD-DBF1A8534D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93048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>
          <a:extLst>
            <a:ext uri="{FF2B5EF4-FFF2-40B4-BE49-F238E27FC236}">
              <a16:creationId xmlns:a16="http://schemas.microsoft.com/office/drawing/2014/main" id="{1FD77177-321B-48DA-A838-818337264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:notes">
            <a:extLst>
              <a:ext uri="{FF2B5EF4-FFF2-40B4-BE49-F238E27FC236}">
                <a16:creationId xmlns:a16="http://schemas.microsoft.com/office/drawing/2014/main" id="{AE3E2265-96EA-8039-A9FE-9C9811E72E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5:notes">
            <a:extLst>
              <a:ext uri="{FF2B5EF4-FFF2-40B4-BE49-F238E27FC236}">
                <a16:creationId xmlns:a16="http://schemas.microsoft.com/office/drawing/2014/main" id="{C52C9BE2-6981-EF64-E402-6BF8CA0042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5:notes">
            <a:extLst>
              <a:ext uri="{FF2B5EF4-FFF2-40B4-BE49-F238E27FC236}">
                <a16:creationId xmlns:a16="http://schemas.microsoft.com/office/drawing/2014/main" id="{D765AE89-C798-30B6-ECF7-36BF7A453FD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52538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>
          <a:extLst>
            <a:ext uri="{FF2B5EF4-FFF2-40B4-BE49-F238E27FC236}">
              <a16:creationId xmlns:a16="http://schemas.microsoft.com/office/drawing/2014/main" id="{A476A1E5-5403-DC85-B682-BDC0E90FB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:notes">
            <a:extLst>
              <a:ext uri="{FF2B5EF4-FFF2-40B4-BE49-F238E27FC236}">
                <a16:creationId xmlns:a16="http://schemas.microsoft.com/office/drawing/2014/main" id="{0B890111-F8B7-D0A7-E0F9-EF14F6E7F5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5:notes">
            <a:extLst>
              <a:ext uri="{FF2B5EF4-FFF2-40B4-BE49-F238E27FC236}">
                <a16:creationId xmlns:a16="http://schemas.microsoft.com/office/drawing/2014/main" id="{AF3AB80F-25AC-4C3E-9909-B5705F6016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5:notes">
            <a:extLst>
              <a:ext uri="{FF2B5EF4-FFF2-40B4-BE49-F238E27FC236}">
                <a16:creationId xmlns:a16="http://schemas.microsoft.com/office/drawing/2014/main" id="{2B36F849-195D-CC4B-3D18-B6559F9AC8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90024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>
          <a:extLst>
            <a:ext uri="{FF2B5EF4-FFF2-40B4-BE49-F238E27FC236}">
              <a16:creationId xmlns:a16="http://schemas.microsoft.com/office/drawing/2014/main" id="{C0B883DF-D97E-C2CC-5895-F76AE1BD8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:notes">
            <a:extLst>
              <a:ext uri="{FF2B5EF4-FFF2-40B4-BE49-F238E27FC236}">
                <a16:creationId xmlns:a16="http://schemas.microsoft.com/office/drawing/2014/main" id="{3353AA1F-3F07-983A-7945-900BBA60A0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5:notes">
            <a:extLst>
              <a:ext uri="{FF2B5EF4-FFF2-40B4-BE49-F238E27FC236}">
                <a16:creationId xmlns:a16="http://schemas.microsoft.com/office/drawing/2014/main" id="{88847221-DD00-C9D3-D066-B73BADF488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5:notes">
            <a:extLst>
              <a:ext uri="{FF2B5EF4-FFF2-40B4-BE49-F238E27FC236}">
                <a16:creationId xmlns:a16="http://schemas.microsoft.com/office/drawing/2014/main" id="{712CC184-715C-29B2-FE9D-A3CF921AC2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45352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>
          <a:extLst>
            <a:ext uri="{FF2B5EF4-FFF2-40B4-BE49-F238E27FC236}">
              <a16:creationId xmlns:a16="http://schemas.microsoft.com/office/drawing/2014/main" id="{4988D689-1D68-366C-BAF1-051984D4F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:notes">
            <a:extLst>
              <a:ext uri="{FF2B5EF4-FFF2-40B4-BE49-F238E27FC236}">
                <a16:creationId xmlns:a16="http://schemas.microsoft.com/office/drawing/2014/main" id="{76E7D794-4E0B-B496-E42E-E2755E6805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5:notes">
            <a:extLst>
              <a:ext uri="{FF2B5EF4-FFF2-40B4-BE49-F238E27FC236}">
                <a16:creationId xmlns:a16="http://schemas.microsoft.com/office/drawing/2014/main" id="{A28E2A5A-9057-F89F-5930-4A5FC9AF5B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5:notes">
            <a:extLst>
              <a:ext uri="{FF2B5EF4-FFF2-40B4-BE49-F238E27FC236}">
                <a16:creationId xmlns:a16="http://schemas.microsoft.com/office/drawing/2014/main" id="{523DD7D5-AC85-6C18-59A4-B56288182E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49316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>
          <a:extLst>
            <a:ext uri="{FF2B5EF4-FFF2-40B4-BE49-F238E27FC236}">
              <a16:creationId xmlns:a16="http://schemas.microsoft.com/office/drawing/2014/main" id="{399022D2-4541-2CA9-3290-553FDDC64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:notes">
            <a:extLst>
              <a:ext uri="{FF2B5EF4-FFF2-40B4-BE49-F238E27FC236}">
                <a16:creationId xmlns:a16="http://schemas.microsoft.com/office/drawing/2014/main" id="{3E3ECD7A-4D28-EDD0-C46E-16D36A188B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5:notes">
            <a:extLst>
              <a:ext uri="{FF2B5EF4-FFF2-40B4-BE49-F238E27FC236}">
                <a16:creationId xmlns:a16="http://schemas.microsoft.com/office/drawing/2014/main" id="{6F382C46-D655-6ED6-F7DF-0D3349836C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5:notes">
            <a:extLst>
              <a:ext uri="{FF2B5EF4-FFF2-40B4-BE49-F238E27FC236}">
                <a16:creationId xmlns:a16="http://schemas.microsoft.com/office/drawing/2014/main" id="{A3C0B0F3-CA30-964D-6AF6-4F373BE938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14706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>
          <a:extLst>
            <a:ext uri="{FF2B5EF4-FFF2-40B4-BE49-F238E27FC236}">
              <a16:creationId xmlns:a16="http://schemas.microsoft.com/office/drawing/2014/main" id="{BF47CF23-31D2-AD99-67D8-46FAFB80E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:notes">
            <a:extLst>
              <a:ext uri="{FF2B5EF4-FFF2-40B4-BE49-F238E27FC236}">
                <a16:creationId xmlns:a16="http://schemas.microsoft.com/office/drawing/2014/main" id="{7CC55066-8047-F881-B5AD-749F4942D7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5:notes">
            <a:extLst>
              <a:ext uri="{FF2B5EF4-FFF2-40B4-BE49-F238E27FC236}">
                <a16:creationId xmlns:a16="http://schemas.microsoft.com/office/drawing/2014/main" id="{C7D7A867-A013-17E5-D151-A29A722712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5:notes">
            <a:extLst>
              <a:ext uri="{FF2B5EF4-FFF2-40B4-BE49-F238E27FC236}">
                <a16:creationId xmlns:a16="http://schemas.microsoft.com/office/drawing/2014/main" id="{1D0630F2-A1B5-A56D-BBE7-911BF967CF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55744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>
          <a:extLst>
            <a:ext uri="{FF2B5EF4-FFF2-40B4-BE49-F238E27FC236}">
              <a16:creationId xmlns:a16="http://schemas.microsoft.com/office/drawing/2014/main" id="{4B9792CC-4359-04FD-7702-BC6824145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:notes">
            <a:extLst>
              <a:ext uri="{FF2B5EF4-FFF2-40B4-BE49-F238E27FC236}">
                <a16:creationId xmlns:a16="http://schemas.microsoft.com/office/drawing/2014/main" id="{335E93DC-D37F-5C20-6889-2308DE62FB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5:notes">
            <a:extLst>
              <a:ext uri="{FF2B5EF4-FFF2-40B4-BE49-F238E27FC236}">
                <a16:creationId xmlns:a16="http://schemas.microsoft.com/office/drawing/2014/main" id="{A58492C6-4A8E-4975-AE11-DCD47E899F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5:notes">
            <a:extLst>
              <a:ext uri="{FF2B5EF4-FFF2-40B4-BE49-F238E27FC236}">
                <a16:creationId xmlns:a16="http://schemas.microsoft.com/office/drawing/2014/main" id="{E990A8A5-7B80-A06C-8EC7-4FA55C146F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82172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>
          <a:extLst>
            <a:ext uri="{FF2B5EF4-FFF2-40B4-BE49-F238E27FC236}">
              <a16:creationId xmlns:a16="http://schemas.microsoft.com/office/drawing/2014/main" id="{C455D172-889C-93DA-BAB1-B57233F5B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:notes">
            <a:extLst>
              <a:ext uri="{FF2B5EF4-FFF2-40B4-BE49-F238E27FC236}">
                <a16:creationId xmlns:a16="http://schemas.microsoft.com/office/drawing/2014/main" id="{640EE5B6-4775-29E2-5938-3B20F16C2D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5:notes">
            <a:extLst>
              <a:ext uri="{FF2B5EF4-FFF2-40B4-BE49-F238E27FC236}">
                <a16:creationId xmlns:a16="http://schemas.microsoft.com/office/drawing/2014/main" id="{1E94946A-E555-998B-C249-DA99648034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5:notes">
            <a:extLst>
              <a:ext uri="{FF2B5EF4-FFF2-40B4-BE49-F238E27FC236}">
                <a16:creationId xmlns:a16="http://schemas.microsoft.com/office/drawing/2014/main" id="{497C1FE0-C681-AC5D-CD27-D47002538D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29261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>
          <a:extLst>
            <a:ext uri="{FF2B5EF4-FFF2-40B4-BE49-F238E27FC236}">
              <a16:creationId xmlns:a16="http://schemas.microsoft.com/office/drawing/2014/main" id="{C5B8F085-1104-AF59-6668-AA140A561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:notes">
            <a:extLst>
              <a:ext uri="{FF2B5EF4-FFF2-40B4-BE49-F238E27FC236}">
                <a16:creationId xmlns:a16="http://schemas.microsoft.com/office/drawing/2014/main" id="{C79EB9F4-2288-BAEA-DD2B-48CAFCE838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5:notes">
            <a:extLst>
              <a:ext uri="{FF2B5EF4-FFF2-40B4-BE49-F238E27FC236}">
                <a16:creationId xmlns:a16="http://schemas.microsoft.com/office/drawing/2014/main" id="{6E8C8889-EA34-78E8-4C06-BCE962E7C2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5:notes">
            <a:extLst>
              <a:ext uri="{FF2B5EF4-FFF2-40B4-BE49-F238E27FC236}">
                <a16:creationId xmlns:a16="http://schemas.microsoft.com/office/drawing/2014/main" id="{DA7F1285-813C-C640-A037-939CBE9087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7813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" name="Google Shape;13;p13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" name="Google Shape;14;p13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" name="Google Shape;15;p13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" name="Google Shape;16;p13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" name="Google Shape;17;p13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" name="Google Shape;18;p13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13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96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81133" y="112327"/>
            <a:ext cx="1804894" cy="781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4"/>
          <p:cNvSpPr txBox="1">
            <a:spLocks noGrp="1"/>
          </p:cNvSpPr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" name="Google Shape;25;p14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" name="Google Shape;26;p14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" name="Google Shape;27;p14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" name="Google Shape;28;p14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" name="Google Shape;29;p14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" name="Google Shape;30;p14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1" name="Google Shape;31;p14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" name="Google Shape;34;p15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" name="Google Shape;35;p15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" name="Google Shape;36;p15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" name="Google Shape;37;p15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8" name="Google Shape;38;p15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15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6"/>
          <p:cNvSpPr txBox="1">
            <a:spLocks noGrp="1"/>
          </p:cNvSpPr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226D"/>
              </a:buClr>
              <a:buSzPts val="2800"/>
              <a:buFont typeface="Arial"/>
              <a:buNone/>
              <a:defRPr sz="2800">
                <a:solidFill>
                  <a:srgbClr val="19226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5" name="Google Shape;45;p16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6" name="Google Shape;46;p16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7" name="Google Shape;47;p16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8" name="Google Shape;48;p16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9" name="Google Shape;49;p16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" name="Google Shape;50;p16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1" name="Google Shape;51;p16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Blank">
  <p:cSld name="8_Blank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7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5" name="Google Shape;55;p17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6" name="Google Shape;56;p17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7" name="Google Shape;57;p17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" name="Google Shape;58;p17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9" name="Google Shape;59;p17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17"/>
          <p:cNvSpPr txBox="1"/>
          <p:nvPr/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sz="12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2" name="Google Shape;62;p17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Blank">
  <p:cSld name="7_Blank">
    <p:bg>
      <p:bgPr>
        <a:gradFill>
          <a:gsLst>
            <a:gs pos="0">
              <a:srgbClr val="50B848"/>
            </a:gs>
            <a:gs pos="37000">
              <a:srgbClr val="356D5B"/>
            </a:gs>
            <a:gs pos="100000">
              <a:srgbClr val="19226D"/>
            </a:gs>
          </a:gsLst>
          <a:lin ang="5400000" scaled="0"/>
        </a:gra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5" name="Google Shape;65;p18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6" name="Google Shape;66;p18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7" name="Google Shape;67;p18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8" name="Google Shape;68;p18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9" name="Google Shape;69;p18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18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4" name="Google Shape;74;p19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5" name="Google Shape;75;p19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6" name="Google Shape;76;p19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7" name="Google Shape;77;p19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8" name="Google Shape;78;p19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Blank">
  <p:cSld name="4_Blank">
    <p:bg>
      <p:bgPr>
        <a:gradFill>
          <a:gsLst>
            <a:gs pos="0">
              <a:srgbClr val="3EA9C1"/>
            </a:gs>
            <a:gs pos="100000">
              <a:srgbClr val="034EA2"/>
            </a:gs>
          </a:gsLst>
          <a:lin ang="10800000" scaled="0"/>
        </a:gra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2" name="Google Shape;82;p20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3" name="Google Shape;83;p20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4" name="Google Shape;84;p20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5" name="Google Shape;85;p20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6" name="Google Shape;86;p20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7" name="Google Shape;87;p20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20"/>
          <p:cNvSpPr txBox="1"/>
          <p:nvPr/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sz="12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9" name="Google Shape;89;p20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Blank">
  <p:cSld name="5_Blank">
    <p:bg>
      <p:bgPr>
        <a:solidFill>
          <a:srgbClr val="F3712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2" name="Google Shape;92;p21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3" name="Google Shape;93;p21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4" name="Google Shape;94;p21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5" name="Google Shape;95;p21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6" name="Google Shape;96;p21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7" name="Google Shape;97;p21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21"/>
          <p:cNvSpPr txBox="1"/>
          <p:nvPr/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sz="12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9" name="Google Shape;99;p21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2" name="Google Shape;102;p22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3" name="Google Shape;103;p22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4" name="Google Shape;104;p22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5" name="Google Shape;105;p22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6" name="Google Shape;106;p22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7" name="Google Shape;107;p22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22"/>
          <p:cNvSpPr txBox="1"/>
          <p:nvPr/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sz="12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9" name="Google Shape;109;p22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Blank">
  <p:cSld name="10_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2" name="Google Shape;112;p23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3" name="Google Shape;113;p23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4" name="Google Shape;114;p23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5" name="Google Shape;115;p23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6" name="Google Shape;116;p23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7" name="Google Shape;117;p23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3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bg>
      <p:bgPr>
        <a:gradFill>
          <a:gsLst>
            <a:gs pos="0">
              <a:srgbClr val="F37121"/>
            </a:gs>
            <a:gs pos="100000">
              <a:srgbClr val="CC540B"/>
            </a:gs>
          </a:gsLst>
          <a:lin ang="10800000" scaled="0"/>
        </a:gra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5201194" y="0"/>
            <a:ext cx="1131602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4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2" name="Google Shape;122;p24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3" name="Google Shape;123;p24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4" name="Google Shape;124;p24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5" name="Google Shape;125;p24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6" name="Google Shape;126;p24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7" name="Google Shape;127;p24"/>
          <p:cNvSpPr txBox="1">
            <a:spLocks noGrp="1"/>
          </p:cNvSpPr>
          <p:nvPr>
            <p:ph type="title"/>
          </p:nvPr>
        </p:nvSpPr>
        <p:spPr>
          <a:xfrm>
            <a:off x="6096000" y="2031423"/>
            <a:ext cx="4590229" cy="298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4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24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bg>
      <p:bgPr>
        <a:gradFill>
          <a:gsLst>
            <a:gs pos="0">
              <a:srgbClr val="19226D"/>
            </a:gs>
            <a:gs pos="100000">
              <a:srgbClr val="034EA2"/>
            </a:gs>
          </a:gsLst>
          <a:lin ang="0" scaled="0"/>
        </a:gra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41573" y="188969"/>
            <a:ext cx="10692406" cy="648006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3" name="Google Shape;133;p25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4" name="Google Shape;134;p25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5" name="Google Shape;135;p25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6" name="Google Shape;136;p25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7" name="Google Shape;137;p25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8" name="Google Shape;138;p25"/>
          <p:cNvSpPr txBox="1">
            <a:spLocks noGrp="1"/>
          </p:cNvSpPr>
          <p:nvPr>
            <p:ph type="title"/>
          </p:nvPr>
        </p:nvSpPr>
        <p:spPr>
          <a:xfrm>
            <a:off x="1130460" y="1904022"/>
            <a:ext cx="4590229" cy="298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25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Blank">
  <p:cSld name="9_Blank">
    <p:bg>
      <p:bgPr>
        <a:gradFill>
          <a:gsLst>
            <a:gs pos="0">
              <a:srgbClr val="034EA2"/>
            </a:gs>
            <a:gs pos="100000">
              <a:srgbClr val="19226D"/>
            </a:gs>
          </a:gsLst>
          <a:lin ang="5400000" scaled="0"/>
        </a:gra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50496" y="0"/>
            <a:ext cx="5741504" cy="691124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6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4" name="Google Shape;144;p26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5" name="Google Shape;145;p26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6" name="Google Shape;146;p26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7" name="Google Shape;147;p26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8" name="Google Shape;148;p26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9" name="Google Shape;149;p26"/>
          <p:cNvSpPr txBox="1">
            <a:spLocks noGrp="1"/>
          </p:cNvSpPr>
          <p:nvPr>
            <p:ph type="title"/>
          </p:nvPr>
        </p:nvSpPr>
        <p:spPr>
          <a:xfrm>
            <a:off x="1505771" y="1904022"/>
            <a:ext cx="4590229" cy="298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6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26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Blank">
  <p:cSld name="11_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4" name="Google Shape;154;p27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5" name="Google Shape;155;p27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6" name="Google Shape;156;p27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7" name="Google Shape;157;p27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8" name="Google Shape;158;p27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9" name="Google Shape;159;p27"/>
          <p:cNvSpPr txBox="1">
            <a:spLocks noGrp="1"/>
          </p:cNvSpPr>
          <p:nvPr>
            <p:ph type="title"/>
          </p:nvPr>
        </p:nvSpPr>
        <p:spPr>
          <a:xfrm>
            <a:off x="6524263" y="2014074"/>
            <a:ext cx="4590229" cy="298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7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27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bg>
      <p:bgPr>
        <a:solidFill>
          <a:schemeClr val="lt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4" name="Google Shape;164;p28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5" name="Google Shape;165;p28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6" name="Google Shape;166;p28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7" name="Google Shape;167;p28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8" name="Google Shape;168;p28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9" name="Google Shape;169;p28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28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bg>
      <p:bgPr>
        <a:solidFill>
          <a:schemeClr val="lt1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3" name="Google Shape;173;p29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4" name="Google Shape;174;p29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5" name="Google Shape;175;p29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6" name="Google Shape;176;p29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7" name="Google Shape;177;p29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8" name="Google Shape;178;p29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29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2" name="Google Shape;182;p30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3" name="Google Shape;183;p30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4" name="Google Shape;184;p30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5" name="Google Shape;185;p30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6" name="Google Shape;186;p30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7" name="Google Shape;187;p30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" name="Google Shape;188;p30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1" name="Google Shape;191;p31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2" name="Google Shape;192;p31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3" name="Google Shape;193;p31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4" name="Google Shape;194;p31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5" name="Google Shape;195;p31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96" name="Google Shape;196;p31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31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bg>
      <p:bgPr>
        <a:solidFill>
          <a:schemeClr val="lt1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0" name="Google Shape;200;p32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1" name="Google Shape;201;p32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2" name="Google Shape;202;p32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3" name="Google Shape;203;p32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4" name="Google Shape;204;p32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5" name="Google Shape;205;p32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" name="Google Shape;206;p32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/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sz="1200" b="0" i="0" u="none" strike="noStrike" cap="none">
              <a:solidFill>
                <a:srgbClr val="B5B5B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09" name="Google Shape;209;p33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0" name="Google Shape;210;p33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1" name="Google Shape;211;p33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2" name="Google Shape;212;p33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3" name="Google Shape;213;p33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4" name="Google Shape;214;p33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5" name="Google Shape;215;p33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Only">
  <p:cSld name="2_Title Only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/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sz="1200" b="0" i="0" u="none" strike="noStrike" cap="none">
              <a:solidFill>
                <a:srgbClr val="B5B5B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8" name="Google Shape;218;p34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19" name="Google Shape;219;p34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0" name="Google Shape;220;p34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1" name="Google Shape;221;p34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2" name="Google Shape;222;p34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3" name="Google Shape;223;p34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4" name="Google Shape;224;p34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model2">
  <p:cSld name="slidemodel2">
    <p:bg>
      <p:bgPr>
        <a:solidFill>
          <a:schemeClr val="lt1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p35"/>
          <p:cNvSpPr/>
          <p:nvPr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8" name="Google Shape;228;p35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9" name="Google Shape;229;p35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0" name="Google Shape;230;p35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1" name="Google Shape;231;p35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2" name="Google Shape;232;p35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3" name="Google Shape;233;p35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3_Title Only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 txBox="1"/>
          <p:nvPr/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sz="1200" b="0" i="0" u="none" strike="noStrike" cap="none">
              <a:solidFill>
                <a:srgbClr val="B5B5B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239270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886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"/>
          <p:cNvSpPr txBox="1"/>
          <p:nvPr/>
        </p:nvSpPr>
        <p:spPr>
          <a:xfrm>
            <a:off x="652390" y="2749249"/>
            <a:ext cx="1107720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3600" b="1" dirty="0" err="1">
                <a:solidFill>
                  <a:srgbClr val="F37121"/>
                </a:solidFill>
              </a:rPr>
              <a:t>SomniGuard</a:t>
            </a:r>
            <a:r>
              <a:rPr lang="en-US" sz="3600" b="1" dirty="0">
                <a:solidFill>
                  <a:srgbClr val="F37121"/>
                </a:solidFill>
              </a:rPr>
              <a:t>: Edge AI-Powered </a:t>
            </a:r>
            <a:r>
              <a:rPr lang="vi-VN" sz="3600" b="1" dirty="0" err="1">
                <a:solidFill>
                  <a:srgbClr val="F37121"/>
                </a:solidFill>
              </a:rPr>
              <a:t>Closed-Loop</a:t>
            </a:r>
            <a:r>
              <a:rPr lang="vi-VN" sz="3600" b="1" dirty="0">
                <a:solidFill>
                  <a:srgbClr val="F37121"/>
                </a:solidFill>
              </a:rPr>
              <a:t> </a:t>
            </a:r>
            <a:r>
              <a:rPr lang="en-US" sz="3600" b="1" dirty="0">
                <a:solidFill>
                  <a:srgbClr val="F37121"/>
                </a:solidFill>
              </a:rPr>
              <a:t>Sleep Apnea </a:t>
            </a:r>
            <a:r>
              <a:rPr lang="vi-VN" sz="3600" b="1" dirty="0" err="1">
                <a:solidFill>
                  <a:srgbClr val="F37121"/>
                </a:solidFill>
              </a:rPr>
              <a:t>Detection</a:t>
            </a:r>
            <a:r>
              <a:rPr lang="vi-VN" sz="3600" b="1" dirty="0">
                <a:solidFill>
                  <a:srgbClr val="F37121"/>
                </a:solidFill>
              </a:rPr>
              <a:t> </a:t>
            </a:r>
            <a:r>
              <a:rPr lang="en-US" sz="3600" b="1" dirty="0">
                <a:solidFill>
                  <a:srgbClr val="F37121"/>
                </a:solidFill>
              </a:rPr>
              <a:t>&amp; </a:t>
            </a:r>
            <a:r>
              <a:rPr lang="vi-VN" sz="3600" b="1" dirty="0" err="1">
                <a:solidFill>
                  <a:srgbClr val="F37121"/>
                </a:solidFill>
              </a:rPr>
              <a:t>Tactile</a:t>
            </a:r>
            <a:r>
              <a:rPr lang="vi-VN" sz="3600" b="1" dirty="0">
                <a:solidFill>
                  <a:srgbClr val="F37121"/>
                </a:solidFill>
              </a:rPr>
              <a:t> </a:t>
            </a:r>
            <a:r>
              <a:rPr lang="en-US" sz="3600" b="1" dirty="0">
                <a:solidFill>
                  <a:srgbClr val="F37121"/>
                </a:solidFill>
              </a:rPr>
              <a:t>Intervention System 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3" name="Google Shape;243;p1"/>
          <p:cNvGrpSpPr/>
          <p:nvPr/>
        </p:nvGrpSpPr>
        <p:grpSpPr>
          <a:xfrm>
            <a:off x="652402" y="5861752"/>
            <a:ext cx="2899997" cy="482600"/>
            <a:chOff x="5181600" y="3683000"/>
            <a:chExt cx="2899997" cy="482600"/>
          </a:xfrm>
        </p:grpSpPr>
        <p:sp>
          <p:nvSpPr>
            <p:cNvPr id="244" name="Google Shape;244;p1"/>
            <p:cNvSpPr/>
            <p:nvPr/>
          </p:nvSpPr>
          <p:spPr>
            <a:xfrm>
              <a:off x="5181600" y="3683000"/>
              <a:ext cx="2169900" cy="482600"/>
            </a:xfrm>
            <a:prstGeom prst="roundRect">
              <a:avLst>
                <a:gd name="adj" fmla="val 50000"/>
              </a:avLst>
            </a:prstGeom>
            <a:solidFill>
              <a:srgbClr val="F37121">
                <a:alpha val="20000"/>
              </a:srgbClr>
            </a:solidFill>
            <a:ln w="12700" cap="flat" cmpd="sng">
              <a:solidFill>
                <a:srgbClr val="F3712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Quattrocento Sans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"/>
            <p:cNvSpPr txBox="1"/>
            <p:nvPr/>
          </p:nvSpPr>
          <p:spPr>
            <a:xfrm>
              <a:off x="5628797" y="3754948"/>
              <a:ext cx="2452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May 7, 2026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p1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7" name="Google Shape;247;p1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8" name="Google Shape;248;p1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9" name="Google Shape;249;p1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0" name="Google Shape;250;p1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1" name="Google Shape;251;p1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2" name="Google Shape;252;p1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253" name="Google Shape;253;p1"/>
          <p:cNvSpPr txBox="1"/>
          <p:nvPr/>
        </p:nvSpPr>
        <p:spPr>
          <a:xfrm>
            <a:off x="652390" y="4592621"/>
            <a:ext cx="11077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37121"/>
                </a:solidFill>
              </a:rPr>
              <a:t>Fantastic Five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27477" y="262288"/>
            <a:ext cx="4928750" cy="2134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" descr="A white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"/>
          <p:cNvSpPr txBox="1"/>
          <p:nvPr/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Table content</a:t>
            </a:r>
            <a:endParaRPr sz="2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63" name="Google Shape;263;p2"/>
          <p:cNvSpPr txBox="1"/>
          <p:nvPr/>
        </p:nvSpPr>
        <p:spPr>
          <a:xfrm>
            <a:off x="389641" y="1152950"/>
            <a:ext cx="262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</a:t>
            </a:r>
            <a:r>
              <a:rPr lang="en-US" sz="20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</a:t>
            </a: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</a:t>
            </a:r>
            <a:endParaRPr sz="20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64" name="Google Shape;264;p2"/>
          <p:cNvSpPr txBox="1"/>
          <p:nvPr/>
        </p:nvSpPr>
        <p:spPr>
          <a:xfrm>
            <a:off x="986037" y="1668450"/>
            <a:ext cx="3269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Introduction </a:t>
            </a:r>
            <a:endParaRPr sz="20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65" name="Google Shape;265;p2"/>
          <p:cNvSpPr txBox="1"/>
          <p:nvPr/>
        </p:nvSpPr>
        <p:spPr>
          <a:xfrm>
            <a:off x="986023" y="2254250"/>
            <a:ext cx="440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lang="en-US" sz="20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.Objective </a:t>
            </a:r>
            <a:endParaRPr sz="20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66" name="Google Shape;266;p2"/>
          <p:cNvSpPr txBox="1"/>
          <p:nvPr/>
        </p:nvSpPr>
        <p:spPr>
          <a:xfrm>
            <a:off x="985871" y="2922600"/>
            <a:ext cx="400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r>
              <a:rPr lang="en-US" sz="20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.System Diagram</a:t>
            </a:r>
            <a:endParaRPr sz="20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67" name="Google Shape;267;p2"/>
          <p:cNvSpPr txBox="1"/>
          <p:nvPr/>
        </p:nvSpPr>
        <p:spPr>
          <a:xfrm>
            <a:off x="985830" y="3590975"/>
            <a:ext cx="580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r>
              <a:rPr lang="en-US" sz="20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.Resource Allocation</a:t>
            </a:r>
            <a:endParaRPr sz="20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68" name="Google Shape;268;p2"/>
          <p:cNvSpPr txBox="1"/>
          <p:nvPr/>
        </p:nvSpPr>
        <p:spPr>
          <a:xfrm>
            <a:off x="985821" y="4263075"/>
            <a:ext cx="62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r>
              <a:rPr lang="en-US" sz="20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.Project Milestones</a:t>
            </a:r>
            <a:endParaRPr sz="20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69" name="Google Shape;269;p2"/>
          <p:cNvSpPr txBox="1"/>
          <p:nvPr/>
        </p:nvSpPr>
        <p:spPr>
          <a:xfrm>
            <a:off x="985885" y="4935175"/>
            <a:ext cx="339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6.Work Process </a:t>
            </a:r>
            <a:endParaRPr sz="20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70" name="Google Shape;270;p2"/>
          <p:cNvSpPr txBox="1"/>
          <p:nvPr/>
        </p:nvSpPr>
        <p:spPr>
          <a:xfrm>
            <a:off x="1047750" y="5607275"/>
            <a:ext cx="5049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7.Risk Management &amp; Additional Info </a:t>
            </a:r>
            <a:endParaRPr sz="20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"/>
          <p:cNvSpPr txBox="1">
            <a:spLocks noGrp="1"/>
          </p:cNvSpPr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b="0"/>
              <a:t>Introduction</a:t>
            </a:r>
            <a:endParaRPr/>
          </a:p>
        </p:txBody>
      </p:sp>
      <p:sp>
        <p:nvSpPr>
          <p:cNvPr id="277" name="Google Shape;277;p3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78" name="Google Shape;278;p3"/>
          <p:cNvSpPr txBox="1"/>
          <p:nvPr/>
        </p:nvSpPr>
        <p:spPr>
          <a:xfrm>
            <a:off x="389626" y="1232850"/>
            <a:ext cx="96522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Name: Fa</a:t>
            </a: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ntastic Five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Motto</a:t>
            </a: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Follow Your Every Dream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Size: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Lead Name: </a:t>
            </a: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Mai Xuân Nhựt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3" descr="A white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"/>
          <p:cNvSpPr txBox="1"/>
          <p:nvPr/>
        </p:nvSpPr>
        <p:spPr>
          <a:xfrm>
            <a:off x="389650" y="3526750"/>
            <a:ext cx="36411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Name: Lê Đức Tài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University: HCMUT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Course and Year Group: Computer Engineering (3rd year)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Contact Email: ldtai061205@gmail.com 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Discord Handle: Fantastic Five - Tài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1" name="Google Shape;281;p3"/>
          <p:cNvSpPr txBox="1"/>
          <p:nvPr/>
        </p:nvSpPr>
        <p:spPr>
          <a:xfrm>
            <a:off x="389615" y="3218914"/>
            <a:ext cx="25585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Members (</a:t>
            </a:r>
            <a:r>
              <a:rPr lang="en-US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r>
              <a:rPr lang="en-US" sz="18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"/>
          <p:cNvSpPr txBox="1"/>
          <p:nvPr/>
        </p:nvSpPr>
        <p:spPr>
          <a:xfrm>
            <a:off x="389625" y="4909150"/>
            <a:ext cx="39075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Name: Nguyễn Thái Sơn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University: HCMUT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Course and Year Group: Computer Engineering (3rd year)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Contact Email: nguyenthaison25052005@gmail.com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Discord Handle: thaison336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3" name="Google Shape;283;p3"/>
          <p:cNvSpPr txBox="1"/>
          <p:nvPr/>
        </p:nvSpPr>
        <p:spPr>
          <a:xfrm>
            <a:off x="4513275" y="3526750"/>
            <a:ext cx="35769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Name: Mai Xuân Nhựt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University: HCMUT 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Course and Year Group: Computer Engineering (3rd year)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Contact Email: nhutmai0515@gmail.com 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Discord Handle: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4" name="Google Shape;284;p3"/>
          <p:cNvSpPr txBox="1"/>
          <p:nvPr/>
        </p:nvSpPr>
        <p:spPr>
          <a:xfrm>
            <a:off x="4513275" y="4909150"/>
            <a:ext cx="4143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Name: Nguyễn Thái Học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University: HCMUT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Course and Year Group:Computer Science (3rd year)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Contact Email: hoc.nguyen2311100@hcmut.edu.vn 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Discord Handle: 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5" name="Google Shape;285;p3"/>
          <p:cNvSpPr txBox="1"/>
          <p:nvPr/>
        </p:nvSpPr>
        <p:spPr>
          <a:xfrm>
            <a:off x="8656650" y="3526750"/>
            <a:ext cx="33615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Name: Lâm Nguơn Hiếu Trung 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University: UMP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Course and Year Group: General Doctor (3rd year)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Contact Email: hieutrung4098@gmail.com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Discord Handle: 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"/>
          <p:cNvSpPr txBox="1">
            <a:spLocks noGrp="1"/>
          </p:cNvSpPr>
          <p:nvPr>
            <p:ph type="title"/>
          </p:nvPr>
        </p:nvSpPr>
        <p:spPr>
          <a:xfrm>
            <a:off x="681355" y="334902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Objective</a:t>
            </a:r>
            <a:endParaRPr/>
          </a:p>
        </p:txBody>
      </p:sp>
      <p:sp>
        <p:nvSpPr>
          <p:cNvPr id="292" name="Google Shape;292;p4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93" name="Google Shape;293;p4"/>
          <p:cNvSpPr txBox="1"/>
          <p:nvPr/>
        </p:nvSpPr>
        <p:spPr>
          <a:xfrm>
            <a:off x="389659" y="1152980"/>
            <a:ext cx="10651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Statement</a:t>
            </a:r>
            <a:endParaRPr sz="22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94" name="Google Shape;294;p4" descr="A white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"/>
          <p:cNvSpPr txBox="1"/>
          <p:nvPr/>
        </p:nvSpPr>
        <p:spPr>
          <a:xfrm>
            <a:off x="1298375" y="1690850"/>
            <a:ext cx="7951500" cy="16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Sleep apnea and arr</a:t>
            </a: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hythmias are life-threatening. </a:t>
            </a:r>
            <a:endParaRPr sz="1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  <a:extLst>
                <a:ext uri="http://customooxmlschemas.google.com/">
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</a:ext>
              </a:extLst>
            </a:endParaRPr>
          </a:p>
          <a:p>
            <a:pPr marL="28575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Traditional monitoring lacks scalability and widespread adoption. </a:t>
            </a:r>
            <a:endParaRPr sz="1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Current wearables only </a:t>
            </a:r>
            <a:r>
              <a:rPr lang="en-US" sz="1800" i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monitor</a:t>
            </a: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but not guarantee to </a:t>
            </a:r>
            <a:r>
              <a:rPr lang="en-US" sz="1800" i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intervene</a:t>
            </a: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 real-time during critical events due to cloud processing latency. 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296" name="Google Shape;296;p4"/>
          <p:cNvSpPr txBox="1"/>
          <p:nvPr/>
        </p:nvSpPr>
        <p:spPr>
          <a:xfrm>
            <a:off x="1169905" y="4084345"/>
            <a:ext cx="9538500" cy="20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800" b="1" dirty="0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Smart Sensing:</a:t>
            </a:r>
            <a:r>
              <a:rPr lang="en-US" sz="1800" dirty="0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Fuses </a:t>
            </a:r>
            <a:r>
              <a:rPr lang="en-US" sz="1800" b="1" dirty="0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PPG and IMU data</a:t>
            </a:r>
            <a:r>
              <a:rPr lang="en-US" sz="1800" dirty="0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to filter motion artifacts.</a:t>
            </a:r>
            <a:endParaRPr sz="1800" dirty="0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800" b="1" dirty="0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Local Edge AI:</a:t>
            </a:r>
            <a:r>
              <a:rPr lang="en-US" sz="1800" dirty="0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Runs model AI directly on-device for </a:t>
            </a:r>
            <a:r>
              <a:rPr lang="en-US" sz="1800" b="1" dirty="0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ultra-low latency</a:t>
            </a:r>
            <a:r>
              <a:rPr lang="en-US" sz="1800" dirty="0">
                <a:solidFill>
                  <a:schemeClr val="dk1"/>
                </a:solidFill>
                <a:highlight>
                  <a:schemeClr val="lt1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 detection.</a:t>
            </a:r>
            <a:endParaRPr sz="1800" dirty="0">
              <a:solidFill>
                <a:schemeClr val="dk1"/>
              </a:solidFill>
              <a:highlight>
                <a:schemeClr val="lt1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8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Active Intervention:</a:t>
            </a: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Triggers instant </a:t>
            </a:r>
            <a:r>
              <a:rPr lang="en-US" sz="18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haptic motor</a:t>
            </a: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alerts to shift user posture.</a:t>
            </a:r>
            <a:endParaRPr sz="1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8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Values:</a:t>
            </a: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Ensures strict </a:t>
            </a:r>
            <a:r>
              <a:rPr lang="en-US" sz="18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privacy</a:t>
            </a: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and 100% </a:t>
            </a:r>
            <a:r>
              <a:rPr lang="en-US" sz="18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offline reliability</a:t>
            </a: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Char char="●"/>
            </a:pPr>
            <a:r>
              <a:rPr lang="en-US" sz="18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Ultra-low Power Tracking:</a:t>
            </a: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dirty="0">
                <a:solidFill>
                  <a:schemeClr val="dk1"/>
                </a:solidFill>
              </a:rPr>
              <a:t>Ensure at least 12 hours of continuous operation on a single charge to cover a full sleep cycle thanks to utilizing MCU Deep Sleep Mode.</a:t>
            </a:r>
            <a:r>
              <a:rPr lang="en-US" sz="1100" dirty="0"/>
              <a:t> </a:t>
            </a:r>
            <a:endParaRPr sz="1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7" name="Google Shape;297;p4"/>
          <p:cNvSpPr txBox="1"/>
          <p:nvPr/>
        </p:nvSpPr>
        <p:spPr>
          <a:xfrm>
            <a:off x="389650" y="335777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Solution</a:t>
            </a:r>
            <a:endParaRPr sz="18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110e548b2_0_23"/>
          <p:cNvSpPr txBox="1">
            <a:spLocks noGrp="1"/>
          </p:cNvSpPr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Objective</a:t>
            </a:r>
            <a:endParaRPr/>
          </a:p>
        </p:txBody>
      </p:sp>
      <p:sp>
        <p:nvSpPr>
          <p:cNvPr id="304" name="Google Shape;304;g3e110e548b2_0_23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305" name="Google Shape;305;g3e110e548b2_0_23"/>
          <p:cNvSpPr txBox="1"/>
          <p:nvPr/>
        </p:nvSpPr>
        <p:spPr>
          <a:xfrm>
            <a:off x="315259" y="1027255"/>
            <a:ext cx="10651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2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Flow</a:t>
            </a:r>
            <a:endParaRPr sz="22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06" name="Google Shape;306;g3e110e548b2_0_23" descr="A white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"/>
          <p:cNvSpPr txBox="1">
            <a:spLocks noGrp="1"/>
          </p:cNvSpPr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System Diagram</a:t>
            </a:r>
            <a:endParaRPr/>
          </a:p>
        </p:txBody>
      </p:sp>
      <p:sp>
        <p:nvSpPr>
          <p:cNvPr id="314" name="Google Shape;314;p5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315" name="Google Shape;315;p5"/>
          <p:cNvSpPr txBox="1"/>
          <p:nvPr/>
        </p:nvSpPr>
        <p:spPr>
          <a:xfrm>
            <a:off x="525775" y="1304497"/>
            <a:ext cx="609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16" name="Google Shape;316;p5" descr="A white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"/>
          <p:cNvSpPr txBox="1"/>
          <p:nvPr/>
        </p:nvSpPr>
        <p:spPr>
          <a:xfrm>
            <a:off x="1791725" y="4907000"/>
            <a:ext cx="7859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/>
          </a:p>
        </p:txBody>
      </p:sp>
      <p:sp>
        <p:nvSpPr>
          <p:cNvPr id="318" name="Google Shape;318;p5"/>
          <p:cNvSpPr txBox="1"/>
          <p:nvPr/>
        </p:nvSpPr>
        <p:spPr>
          <a:xfrm>
            <a:off x="962850" y="1654700"/>
            <a:ext cx="8055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77a929014_1_0"/>
          <p:cNvSpPr txBox="1">
            <a:spLocks noGrp="1"/>
          </p:cNvSpPr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dirty="0"/>
              <a:t>System Diagram</a:t>
            </a:r>
            <a:endParaRPr dirty="0"/>
          </a:p>
        </p:txBody>
      </p:sp>
      <p:sp>
        <p:nvSpPr>
          <p:cNvPr id="326" name="Google Shape;326;g3f77a929014_1_0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327" name="Google Shape;327;g3f77a929014_1_0"/>
          <p:cNvSpPr txBox="1"/>
          <p:nvPr/>
        </p:nvSpPr>
        <p:spPr>
          <a:xfrm>
            <a:off x="411387" y="1174712"/>
            <a:ext cx="6092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Components and Interfaces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lang="en-US" sz="1800" b="1" dirty="0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Highlight Wireless Technology and Edge AI solution</a:t>
            </a:r>
            <a:endParaRPr dirty="0"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28" name="Google Shape;328;g3f77a929014_1_0" descr="A white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6"/>
          <p:cNvSpPr txBox="1">
            <a:spLocks noGrp="1"/>
          </p:cNvSpPr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Resource Allocation</a:t>
            </a:r>
            <a:endParaRPr/>
          </a:p>
        </p:txBody>
      </p:sp>
      <p:sp>
        <p:nvSpPr>
          <p:cNvPr id="335" name="Google Shape;335;p6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336" name="Google Shape;336;p6"/>
          <p:cNvSpPr txBox="1"/>
          <p:nvPr/>
        </p:nvSpPr>
        <p:spPr>
          <a:xfrm>
            <a:off x="148330" y="1140303"/>
            <a:ext cx="11452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Human resources (assigned roles based on experience and expertise):</a:t>
            </a:r>
            <a:endParaRPr sz="2000" b="1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37" name="Google Shape;337;p6" descr="A white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6"/>
          <p:cNvSpPr txBox="1"/>
          <p:nvPr/>
        </p:nvSpPr>
        <p:spPr>
          <a:xfrm>
            <a:off x="-3962400" y="1733575"/>
            <a:ext cx="8332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39" name="Google Shape;339;p6"/>
          <p:cNvSpPr txBox="1"/>
          <p:nvPr/>
        </p:nvSpPr>
        <p:spPr>
          <a:xfrm>
            <a:off x="389625" y="1587500"/>
            <a:ext cx="99315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Char char="○"/>
            </a:pPr>
            <a:r>
              <a:rPr lang="en-US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Mai Xuân Nhựt: IoT System Integration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Char char="■"/>
            </a:pPr>
            <a:r>
              <a:rPr lang="en-US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Responsibilities:</a:t>
            </a:r>
            <a:r>
              <a:rPr lang="en-US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Overall project management &amp; Agile tracking. Developing the Layer 2 Local Edge Gateway on Raspberry Pi 4B (Python/Node.js). Setting up the Layer 3 Cloud Analytics via MQTT protocol and ThingsBoard/Grafana dashboard. </a:t>
            </a:r>
            <a:endParaRPr sz="2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0" name="Google Shape;340;p6"/>
          <p:cNvSpPr txBox="1"/>
          <p:nvPr/>
        </p:nvSpPr>
        <p:spPr>
          <a:xfrm>
            <a:off x="389625" y="2617000"/>
            <a:ext cx="10077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Char char="○"/>
            </a:pPr>
            <a:r>
              <a:rPr lang="en-US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Nguyễn Thái Học: Lead AI/ML Engineer 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Char char="■"/>
            </a:pPr>
            <a:r>
              <a:rPr lang="en-US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Responsibilities:</a:t>
            </a:r>
            <a:r>
              <a:rPr lang="en-US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Handling Data Pre-processing, Sensor Fusion datasets, and Model Training. Designing the 1D-CNN Edge AI architecture as baseline, potentially applying more advanced method to capture longer-dependency and deal with resource-constraint. he model for TensorFlow Lite for Applying Quantization methods to optimize Microcontrollers. Apply personalized model and dynamic sampling rate after anomaly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1" name="Google Shape;341;p6"/>
          <p:cNvSpPr txBox="1"/>
          <p:nvPr/>
        </p:nvSpPr>
        <p:spPr>
          <a:xfrm>
            <a:off x="389625" y="3740400"/>
            <a:ext cx="100005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Char char="○"/>
            </a:pPr>
            <a:r>
              <a:rPr lang="en-US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Nguyễn Thái Sơn: Hardware &amp; Communications Engineer </a:t>
            </a:r>
            <a:endParaRPr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Char char="■"/>
            </a:pPr>
            <a:r>
              <a:rPr lang="en-US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Responsibilities:</a:t>
            </a:r>
            <a:r>
              <a:rPr lang="en-US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Designing the wearable hardware schematics and sensor node interfaces (I2C/SPI for MAX30102, MPU6050, Thermistor). Implementing and optimizing the low-latency BLE 5.3 communication protocol to transmit Alert Flags to the Gateway. </a:t>
            </a:r>
            <a:endParaRPr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2" name="Google Shape;342;p6"/>
          <p:cNvSpPr txBox="1"/>
          <p:nvPr/>
        </p:nvSpPr>
        <p:spPr>
          <a:xfrm>
            <a:off x="389625" y="4647800"/>
            <a:ext cx="100005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Char char="○"/>
            </a:pPr>
            <a:r>
              <a:rPr lang="en-US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Lê Đức Tài: Embedded Firmware Engineer 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Char char="■"/>
            </a:pPr>
            <a:r>
              <a:rPr lang="en-US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Responsibilities: </a:t>
            </a:r>
            <a:r>
              <a:rPr lang="en-US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Programming the core Silicon Labs EFR32xG26 Wireless SoC. Designing the Event-driven Finite State Machine (FSM). Implementing critical Power Management strategies (EM2 Deep Sleep &amp; Wake-on-motion) and executing the on-chip AI inference. 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3" name="Google Shape;343;p6"/>
          <p:cNvSpPr txBox="1"/>
          <p:nvPr/>
        </p:nvSpPr>
        <p:spPr>
          <a:xfrm>
            <a:off x="389625" y="5555200"/>
            <a:ext cx="99315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Char char="○"/>
            </a:pPr>
            <a:r>
              <a:rPr lang="en-US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Lâm Nguơn Hiếu Trung: Medical Advisor 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ttrocento Sans"/>
              <a:buChar char="■"/>
            </a:pPr>
            <a:r>
              <a:rPr lang="en-US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Responsibilities:</a:t>
            </a:r>
            <a:r>
              <a:rPr lang="en-US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Defining accurate medical thresholds for Sleep Apnea and Arrhythmia based on PPG/IMU data. Designing the haptic intervention logic to ensure patient safety and optimal User Experience (UX) during sleep. Validating the system's output against clinical logic. </a:t>
            </a:r>
            <a:endParaRPr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e167eeff32_0_46"/>
          <p:cNvSpPr txBox="1">
            <a:spLocks noGrp="1"/>
          </p:cNvSpPr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Resource Allocation</a:t>
            </a:r>
            <a:endParaRPr/>
          </a:p>
        </p:txBody>
      </p:sp>
      <p:sp>
        <p:nvSpPr>
          <p:cNvPr id="350" name="Google Shape;350;g3e167eeff32_0_46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351" name="Google Shape;351;g3e167eeff32_0_46" descr="A white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e167eeff32_0_46"/>
          <p:cNvSpPr txBox="1"/>
          <p:nvPr/>
        </p:nvSpPr>
        <p:spPr>
          <a:xfrm>
            <a:off x="1280725" y="1348650"/>
            <a:ext cx="9005700" cy="21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34EA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Equipment and tools</a:t>
            </a:r>
            <a:endParaRPr sz="2100" b="1">
              <a:solidFill>
                <a:srgbClr val="034EA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91440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2300"/>
              <a:buFont typeface="Quattrocento Sans"/>
              <a:buChar char="○"/>
            </a:pPr>
            <a:r>
              <a:rPr lang="en-US" sz="1600" b="1" i="1">
                <a:solidFill>
                  <a:srgbClr val="034EA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Hardware</a:t>
            </a:r>
            <a:r>
              <a:rPr lang="en-US" sz="1600" i="1">
                <a:solidFill>
                  <a:srgbClr val="034EA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lang="en-US" sz="1600">
                <a:solidFill>
                  <a:srgbClr val="034EA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EFR32xG26 Dev Kit, Raspberry Pi 4B, </a:t>
            </a:r>
            <a:endParaRPr sz="1600">
              <a:solidFill>
                <a:srgbClr val="034EA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37160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1600"/>
              <a:buFont typeface="Quattrocento Sans"/>
              <a:buChar char="■"/>
            </a:pPr>
            <a:r>
              <a:rPr lang="en-US" sz="1600">
                <a:solidFill>
                  <a:srgbClr val="034EA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MAX30102: sensor to collect PPG data.</a:t>
            </a:r>
            <a:endParaRPr sz="1600">
              <a:solidFill>
                <a:srgbClr val="034EA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371600" lvl="2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1600"/>
              <a:buFont typeface="Quattrocento Sans"/>
              <a:buChar char="■"/>
            </a:pPr>
            <a:r>
              <a:rPr lang="en-US" sz="1600">
                <a:solidFill>
                  <a:srgbClr val="034EA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MPU6050: sensor to collect IMU data.</a:t>
            </a:r>
            <a:endParaRPr sz="1600">
              <a:solidFill>
                <a:srgbClr val="034EA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91440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2300"/>
              <a:buFont typeface="Quattrocento Sans"/>
              <a:buChar char="○"/>
            </a:pPr>
            <a:r>
              <a:rPr lang="en-US" sz="1600" b="1" i="1">
                <a:solidFill>
                  <a:srgbClr val="034EA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Software</a:t>
            </a:r>
            <a:r>
              <a:rPr lang="en-US" sz="1600" i="1">
                <a:solidFill>
                  <a:srgbClr val="034EA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r>
              <a:rPr lang="en-US" sz="1600">
                <a:solidFill>
                  <a:srgbClr val="034EA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Simplicity Studio v5, TensorFlow Lite for Microcontrollers, Silicon Labs GitHub Sandbox.</a:t>
            </a:r>
            <a:endParaRPr sz="1600">
              <a:solidFill>
                <a:srgbClr val="034EA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7"/>
          <p:cNvSpPr/>
          <p:nvPr/>
        </p:nvSpPr>
        <p:spPr>
          <a:xfrm>
            <a:off x="8662500" y="5755225"/>
            <a:ext cx="2243400" cy="7575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7"/>
          <p:cNvSpPr/>
          <p:nvPr/>
        </p:nvSpPr>
        <p:spPr>
          <a:xfrm>
            <a:off x="2880400" y="5569450"/>
            <a:ext cx="3066000" cy="7110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7"/>
          <p:cNvSpPr/>
          <p:nvPr/>
        </p:nvSpPr>
        <p:spPr>
          <a:xfrm>
            <a:off x="5559425" y="1131900"/>
            <a:ext cx="2633400" cy="7110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7"/>
          <p:cNvSpPr/>
          <p:nvPr/>
        </p:nvSpPr>
        <p:spPr>
          <a:xfrm>
            <a:off x="946475" y="1059550"/>
            <a:ext cx="2243400" cy="7575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7"/>
          <p:cNvSpPr txBox="1">
            <a:spLocks noGrp="1"/>
          </p:cNvSpPr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Project Milestones</a:t>
            </a:r>
            <a:endParaRPr/>
          </a:p>
        </p:txBody>
      </p:sp>
      <p:sp>
        <p:nvSpPr>
          <p:cNvPr id="363" name="Google Shape;363;p7"/>
          <p:cNvSpPr txBox="1">
            <a:spLocks noGrp="1"/>
          </p:cNvSpPr>
          <p:nvPr>
            <p:ph type="sldNum" idx="12"/>
          </p:nvPr>
        </p:nvSpPr>
        <p:spPr>
          <a:xfrm>
            <a:off x="10905900" y="6118828"/>
            <a:ext cx="5961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364" name="Google Shape;364;p7" descr="A white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5" name="Google Shape;365;p7"/>
          <p:cNvCxnSpPr/>
          <p:nvPr/>
        </p:nvCxnSpPr>
        <p:spPr>
          <a:xfrm rot="10800000" flipH="1">
            <a:off x="238275" y="3647050"/>
            <a:ext cx="10917900" cy="2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cxnSp>
      <p:sp>
        <p:nvSpPr>
          <p:cNvPr id="366" name="Google Shape;366;p7"/>
          <p:cNvSpPr/>
          <p:nvPr/>
        </p:nvSpPr>
        <p:spPr>
          <a:xfrm>
            <a:off x="806225" y="2076963"/>
            <a:ext cx="2379300" cy="1494600"/>
          </a:xfrm>
          <a:prstGeom prst="ellipse">
            <a:avLst/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Hardware &amp; Data </a:t>
            </a:r>
            <a:br>
              <a:rPr lang="en-US" b="1"/>
            </a:br>
            <a:r>
              <a:rPr lang="en-US" b="1"/>
              <a:t>May 23 - Jun 15</a:t>
            </a:r>
            <a:endParaRPr b="1"/>
          </a:p>
        </p:txBody>
      </p:sp>
      <p:sp>
        <p:nvSpPr>
          <p:cNvPr id="367" name="Google Shape;367;p7"/>
          <p:cNvSpPr/>
          <p:nvPr/>
        </p:nvSpPr>
        <p:spPr>
          <a:xfrm>
            <a:off x="3227925" y="3743675"/>
            <a:ext cx="2441700" cy="1620300"/>
          </a:xfrm>
          <a:prstGeom prst="ellipse">
            <a:avLst/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Edge AI &amp; Firmware</a:t>
            </a:r>
            <a:br>
              <a:rPr lang="en-US" b="1"/>
            </a:br>
            <a:r>
              <a:rPr lang="en-US" b="1"/>
              <a:t>Jun 16 - Jul 15 </a:t>
            </a:r>
            <a:endParaRPr b="1"/>
          </a:p>
        </p:txBody>
      </p:sp>
      <p:sp>
        <p:nvSpPr>
          <p:cNvPr id="368" name="Google Shape;368;p7"/>
          <p:cNvSpPr/>
          <p:nvPr/>
        </p:nvSpPr>
        <p:spPr>
          <a:xfrm>
            <a:off x="5822225" y="2096863"/>
            <a:ext cx="2379300" cy="1494600"/>
          </a:xfrm>
          <a:prstGeom prst="ellipse">
            <a:avLst/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Gateway &amp; Cloud </a:t>
            </a:r>
            <a:endParaRPr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Jul 16 - Aug 10</a:t>
            </a:r>
            <a:endParaRPr b="1"/>
          </a:p>
        </p:txBody>
      </p:sp>
      <p:sp>
        <p:nvSpPr>
          <p:cNvPr id="369" name="Google Shape;369;p7"/>
          <p:cNvSpPr/>
          <p:nvPr/>
        </p:nvSpPr>
        <p:spPr>
          <a:xfrm>
            <a:off x="8508300" y="3714863"/>
            <a:ext cx="2441700" cy="1677900"/>
          </a:xfrm>
          <a:prstGeom prst="ellipse">
            <a:avLst/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Testing &amp; Demo</a:t>
            </a:r>
            <a:endParaRPr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Aug 11 - Aug 24</a:t>
            </a:r>
            <a:endParaRPr b="1"/>
          </a:p>
        </p:txBody>
      </p:sp>
      <p:sp>
        <p:nvSpPr>
          <p:cNvPr id="370" name="Google Shape;370;p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7"/>
          <p:cNvSpPr txBox="1"/>
          <p:nvPr/>
        </p:nvSpPr>
        <p:spPr>
          <a:xfrm>
            <a:off x="806225" y="1087713"/>
            <a:ext cx="252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Assembly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DSP Implementation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Data Pipeline. </a:t>
            </a:r>
            <a:endParaRPr/>
          </a:p>
        </p:txBody>
      </p:sp>
      <p:sp>
        <p:nvSpPr>
          <p:cNvPr id="372" name="Google Shape;372;p7"/>
          <p:cNvSpPr txBox="1"/>
          <p:nvPr/>
        </p:nvSpPr>
        <p:spPr>
          <a:xfrm>
            <a:off x="2944625" y="5640400"/>
            <a:ext cx="331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Model Training (Quantization)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Chip AI Deployment. </a:t>
            </a:r>
            <a:endParaRPr/>
          </a:p>
        </p:txBody>
      </p:sp>
      <p:sp>
        <p:nvSpPr>
          <p:cNvPr id="373" name="Google Shape;373;p7"/>
          <p:cNvSpPr txBox="1"/>
          <p:nvPr/>
        </p:nvSpPr>
        <p:spPr>
          <a:xfrm>
            <a:off x="5559425" y="1131888"/>
            <a:ext cx="2904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BLE Integration, 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MQTT Dashboard Setup. </a:t>
            </a:r>
            <a:endParaRPr/>
          </a:p>
        </p:txBody>
      </p:sp>
      <p:sp>
        <p:nvSpPr>
          <p:cNvPr id="374" name="Google Shape;374;p7"/>
          <p:cNvSpPr txBox="1"/>
          <p:nvPr/>
        </p:nvSpPr>
        <p:spPr>
          <a:xfrm>
            <a:off x="8574375" y="5755225"/>
            <a:ext cx="2581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Power Optimization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Video Demo Prep. </a:t>
            </a:r>
            <a:endParaRPr/>
          </a:p>
        </p:txBody>
      </p:sp>
      <p:sp>
        <p:nvSpPr>
          <p:cNvPr id="375" name="Google Shape;375;p7"/>
          <p:cNvSpPr/>
          <p:nvPr/>
        </p:nvSpPr>
        <p:spPr>
          <a:xfrm>
            <a:off x="1764575" y="3845425"/>
            <a:ext cx="462600" cy="477600"/>
          </a:xfrm>
          <a:prstGeom prst="ellipse">
            <a:avLst/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sz="1700" b="1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4217463" y="2807200"/>
            <a:ext cx="462600" cy="477600"/>
          </a:xfrm>
          <a:prstGeom prst="ellipse">
            <a:avLst/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1700" b="1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7" name="Google Shape;377;p7"/>
          <p:cNvSpPr/>
          <p:nvPr/>
        </p:nvSpPr>
        <p:spPr>
          <a:xfrm>
            <a:off x="6780563" y="3845425"/>
            <a:ext cx="462600" cy="477600"/>
          </a:xfrm>
          <a:prstGeom prst="ellipse">
            <a:avLst/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sz="1700" b="1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78" name="Google Shape;378;p7"/>
          <p:cNvSpPr/>
          <p:nvPr/>
        </p:nvSpPr>
        <p:spPr>
          <a:xfrm>
            <a:off x="9453750" y="2807200"/>
            <a:ext cx="462600" cy="477600"/>
          </a:xfrm>
          <a:prstGeom prst="ellipse">
            <a:avLst/>
          </a:prstGeom>
          <a:solidFill>
            <a:srgbClr val="6FA8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sz="1700" b="1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8"/>
          <p:cNvSpPr txBox="1">
            <a:spLocks noGrp="1"/>
          </p:cNvSpPr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Work process</a:t>
            </a:r>
            <a:endParaRPr/>
          </a:p>
        </p:txBody>
      </p:sp>
      <p:sp>
        <p:nvSpPr>
          <p:cNvPr id="385" name="Google Shape;385;p8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386" name="Google Shape;386;p8" descr="A white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8"/>
          <p:cNvSpPr txBox="1"/>
          <p:nvPr/>
        </p:nvSpPr>
        <p:spPr>
          <a:xfrm>
            <a:off x="634799" y="1682296"/>
            <a:ext cx="10922400" cy="22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Meetings:</a:t>
            </a: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Bi-weekly technical syncs via Google Meet.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Progress Tracking:</a:t>
            </a: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Agile methodology using Trello/Jira boards.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Collaboration Methods:</a:t>
            </a: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Strict usage of the official Silicon Labs GitHub Sandbox for all source code version control.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18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Interaction with Mentors:</a:t>
            </a:r>
            <a:r>
              <a:rPr lang="en-US"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Weekly code reviews and Simplicity Studio debugging sessions via Discord.</a:t>
            </a:r>
            <a:endParaRPr sz="1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9"/>
          <p:cNvSpPr txBox="1">
            <a:spLocks noGrp="1"/>
          </p:cNvSpPr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Risk Management</a:t>
            </a:r>
            <a:endParaRPr/>
          </a:p>
        </p:txBody>
      </p:sp>
      <p:sp>
        <p:nvSpPr>
          <p:cNvPr id="394" name="Google Shape;394;p9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395" name="Google Shape;395;p9"/>
          <p:cNvSpPr txBox="1"/>
          <p:nvPr/>
        </p:nvSpPr>
        <p:spPr>
          <a:xfrm>
            <a:off x="224275" y="724275"/>
            <a:ext cx="11118600" cy="6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i="1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28575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1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9144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 b="1" i="1">
                <a:latin typeface="Quattrocento Sans"/>
                <a:ea typeface="Quattrocento Sans"/>
                <a:cs typeface="Quattrocento Sans"/>
                <a:sym typeface="Quattrocento Sans"/>
              </a:rPr>
              <a:t>Risk 1</a:t>
            </a:r>
            <a:r>
              <a:rPr lang="en-US" sz="1800" i="1">
                <a:latin typeface="Quattrocento Sans"/>
                <a:ea typeface="Quattrocento Sans"/>
                <a:cs typeface="Quattrocento Sans"/>
                <a:sym typeface="Quattrocento Sans"/>
              </a:rPr>
              <a:t>: AI model exceeds limited RAM of EFR32xG26. </a:t>
            </a:r>
            <a:endParaRPr sz="1800" i="1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3716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Quattrocento Sans"/>
              <a:buChar char="○"/>
            </a:pPr>
            <a:r>
              <a:rPr lang="en-US" sz="1800" b="1">
                <a:latin typeface="Quattrocento Sans"/>
                <a:ea typeface="Quattrocento Sans"/>
                <a:cs typeface="Quattrocento Sans"/>
                <a:sym typeface="Quattrocento Sans"/>
              </a:rPr>
              <a:t>Mitigation: </a:t>
            </a:r>
            <a:r>
              <a:rPr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Apply Post-Training Quantization (INT8) or Quantization-Ware training  and network pruning to fit MCU constraints.</a:t>
            </a:r>
            <a:endParaRPr sz="1800" b="1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9144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b="1" i="1">
                <a:latin typeface="Quattrocento Sans"/>
                <a:ea typeface="Quattrocento Sans"/>
                <a:cs typeface="Quattrocento Sans"/>
                <a:sym typeface="Quattrocento Sans"/>
              </a:rPr>
              <a:t>Risk 2</a:t>
            </a:r>
            <a:r>
              <a:rPr lang="en-US" sz="1800" i="1">
                <a:latin typeface="Quattrocento Sans"/>
                <a:ea typeface="Quattrocento Sans"/>
                <a:cs typeface="Quattrocento Sans"/>
                <a:sym typeface="Quattrocento Sans"/>
              </a:rPr>
              <a:t>: False alarms due to random hand movements during sleep.</a:t>
            </a:r>
            <a:endParaRPr sz="1800" i="1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3716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700"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800" b="1">
                <a:latin typeface="Quattrocento Sans"/>
                <a:ea typeface="Quattrocento Sans"/>
                <a:cs typeface="Quattrocento Sans"/>
                <a:sym typeface="Quattrocento Sans"/>
              </a:rPr>
              <a:t>Mitigation:</a:t>
            </a:r>
            <a:r>
              <a:rPr lang="en-US" sz="1800">
                <a:latin typeface="Quattrocento Sans"/>
                <a:ea typeface="Quattrocento Sans"/>
                <a:cs typeface="Quattrocento Sans"/>
                <a:sym typeface="Quattrocento Sans"/>
              </a:rPr>
              <a:t> Sensor Fusion algorithm. High IMU acceleration instructs the AI to ignore SpO2 drops as 'Motion Artifacts'.</a:t>
            </a:r>
            <a:endParaRPr sz="1800" i="1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9144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Quattrocento Sans"/>
              <a:buChar char="●"/>
            </a:pPr>
            <a:r>
              <a:rPr lang="en-US" sz="1800" b="1" i="1">
                <a:latin typeface="Quattrocento Sans"/>
                <a:ea typeface="Quattrocento Sans"/>
                <a:cs typeface="Quattrocento Sans"/>
                <a:sym typeface="Quattrocento Sans"/>
              </a:rPr>
              <a:t>Risk 3</a:t>
            </a:r>
            <a:r>
              <a:rPr lang="en-US" sz="1800" i="1">
                <a:latin typeface="Quattrocento Sans"/>
                <a:ea typeface="Quattrocento Sans"/>
                <a:cs typeface="Quattrocento Sans"/>
                <a:sym typeface="Quattrocento Sans"/>
              </a:rPr>
              <a:t>: System battery drains rapidly (&lt;8 hours) due to continuous raw data transmission via BLE and constant AI inferencing.</a:t>
            </a:r>
            <a:endParaRPr sz="1800" i="1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13716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Quattrocento Sans"/>
              <a:buChar char="○"/>
            </a:pPr>
            <a:r>
              <a:rPr lang="en-US" sz="1800" b="1" i="1">
                <a:latin typeface="Quattrocento Sans"/>
                <a:ea typeface="Quattrocento Sans"/>
                <a:cs typeface="Quattrocento Sans"/>
                <a:sym typeface="Quattrocento Sans"/>
              </a:rPr>
              <a:t>Mitigation</a:t>
            </a:r>
            <a:r>
              <a:rPr lang="en-US" sz="1800" i="1">
                <a:latin typeface="Quattrocento Sans"/>
                <a:ea typeface="Quattrocento Sans"/>
                <a:cs typeface="Quattrocento Sans"/>
                <a:sym typeface="Quattrocento Sans"/>
              </a:rPr>
              <a:t>: </a:t>
            </a:r>
            <a:r>
              <a:rPr lang="en-US" sz="1700">
                <a:latin typeface="Quattrocento Sans"/>
                <a:ea typeface="Quattrocento Sans"/>
                <a:cs typeface="Quattrocento Sans"/>
                <a:sym typeface="Quattrocento Sans"/>
              </a:rPr>
              <a:t>Implement Edge Computing architecture. The MCU operates in EM2 Deep Sleep mode. BLE only transmits "Alert Flags" (not raw data). Sensors use low-power sampling rates (IMU 25Hz, PPG 50Hz)</a:t>
            </a:r>
            <a:endParaRPr sz="1800" i="1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9144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Quattrocento Sans"/>
              <a:buChar char="●"/>
            </a:pPr>
            <a:r>
              <a:rPr lang="en-US" sz="1800" b="1" i="1">
                <a:latin typeface="Quattrocento Sans"/>
                <a:ea typeface="Quattrocento Sans"/>
                <a:cs typeface="Quattrocento Sans"/>
                <a:sym typeface="Quattrocento Sans"/>
              </a:rPr>
              <a:t>Risk 4</a:t>
            </a:r>
            <a:r>
              <a:rPr lang="en-US" sz="1800" i="1">
                <a:latin typeface="Quattrocento Sans"/>
                <a:ea typeface="Quattrocento Sans"/>
                <a:cs typeface="Quattrocento Sans"/>
                <a:sym typeface="Quattrocento Sans"/>
              </a:rPr>
              <a:t>: Hardware constraints or unavailable specific sensors during development.</a:t>
            </a:r>
            <a:endParaRPr sz="1800" i="1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i="1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i="1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i="1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i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96" name="Google Shape;396;p9" descr="A white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0"/>
          <p:cNvSpPr/>
          <p:nvPr/>
        </p:nvSpPr>
        <p:spPr>
          <a:xfrm>
            <a:off x="9326050" y="2239800"/>
            <a:ext cx="2543100" cy="3156900"/>
          </a:xfrm>
          <a:prstGeom prst="rect">
            <a:avLst/>
          </a:prstGeom>
          <a:solidFill>
            <a:srgbClr val="3D85C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0"/>
          <p:cNvSpPr/>
          <p:nvPr/>
        </p:nvSpPr>
        <p:spPr>
          <a:xfrm>
            <a:off x="499350" y="2227250"/>
            <a:ext cx="2543100" cy="3156900"/>
          </a:xfrm>
          <a:prstGeom prst="rect">
            <a:avLst/>
          </a:prstGeom>
          <a:solidFill>
            <a:srgbClr val="3D85C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0"/>
          <p:cNvSpPr txBox="1">
            <a:spLocks noGrp="1"/>
          </p:cNvSpPr>
          <p:nvPr>
            <p:ph type="title"/>
          </p:nvPr>
        </p:nvSpPr>
        <p:spPr>
          <a:xfrm>
            <a:off x="525780" y="1108265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300">
                <a:solidFill>
                  <a:schemeClr val="accent5"/>
                </a:solidFill>
              </a:rPr>
              <a:t>Human &amp; Business Impact </a:t>
            </a:r>
            <a:endParaRPr sz="2300">
              <a:solidFill>
                <a:schemeClr val="accent5"/>
              </a:solidFill>
            </a:endParaRPr>
          </a:p>
        </p:txBody>
      </p:sp>
      <p:sp>
        <p:nvSpPr>
          <p:cNvPr id="405" name="Google Shape;405;p10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406" name="Google Shape;406;p10" descr="A white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0"/>
          <p:cNvSpPr txBox="1"/>
          <p:nvPr/>
        </p:nvSpPr>
        <p:spPr>
          <a:xfrm>
            <a:off x="-517425" y="196225"/>
            <a:ext cx="7492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1">
                <a:solidFill>
                  <a:srgbClr val="FFFFFF"/>
                </a:solidFill>
              </a:rPr>
              <a:t>Additional information</a:t>
            </a:r>
            <a:r>
              <a:rPr lang="en-US" sz="1100"/>
              <a:t> </a:t>
            </a:r>
            <a:endParaRPr sz="17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08" name="Google Shape;408;p10"/>
          <p:cNvSpPr txBox="1"/>
          <p:nvPr/>
        </p:nvSpPr>
        <p:spPr>
          <a:xfrm>
            <a:off x="876300" y="3143250"/>
            <a:ext cx="2050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Saving Lives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09" name="Google Shape;409;p10"/>
          <p:cNvSpPr txBox="1"/>
          <p:nvPr/>
        </p:nvSpPr>
        <p:spPr>
          <a:xfrm>
            <a:off x="876300" y="3609975"/>
            <a:ext cx="1952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Immediate intervention reduces risks of cardiac arrest by forcing posture changes during apnea.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10" name="Google Shape;410;p10"/>
          <p:cNvSpPr txBox="1"/>
          <p:nvPr/>
        </p:nvSpPr>
        <p:spPr>
          <a:xfrm>
            <a:off x="9572500" y="3009150"/>
            <a:ext cx="2050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411" name="Google Shape;411;p10"/>
          <p:cNvSpPr txBox="1"/>
          <p:nvPr/>
        </p:nvSpPr>
        <p:spPr>
          <a:xfrm>
            <a:off x="9621250" y="3143250"/>
            <a:ext cx="1952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Ecosystem Expand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12" name="Google Shape;412;p1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6300" y="25241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0"/>
          <p:cNvSpPr/>
          <p:nvPr/>
        </p:nvSpPr>
        <p:spPr>
          <a:xfrm>
            <a:off x="6384663" y="2239800"/>
            <a:ext cx="2543100" cy="3156900"/>
          </a:xfrm>
          <a:prstGeom prst="rect">
            <a:avLst/>
          </a:prstGeom>
          <a:solidFill>
            <a:srgbClr val="3D85C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3443288" y="2227250"/>
            <a:ext cx="2543100" cy="3156900"/>
          </a:xfrm>
          <a:prstGeom prst="rect">
            <a:avLst/>
          </a:prstGeom>
          <a:solidFill>
            <a:srgbClr val="3D85C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0"/>
          <p:cNvSpPr txBox="1"/>
          <p:nvPr/>
        </p:nvSpPr>
        <p:spPr>
          <a:xfrm>
            <a:off x="3823738" y="3143250"/>
            <a:ext cx="2050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Privacy-First</a:t>
            </a:r>
            <a:endParaRPr b="1"/>
          </a:p>
        </p:txBody>
      </p:sp>
      <p:sp>
        <p:nvSpPr>
          <p:cNvPr id="416" name="Google Shape;416;p10"/>
          <p:cNvSpPr txBox="1"/>
          <p:nvPr/>
        </p:nvSpPr>
        <p:spPr>
          <a:xfrm>
            <a:off x="3823738" y="3609975"/>
            <a:ext cx="1952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100% Offline Edge processing ensures sensitive medical data never leaves the patient's room.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17" name="Google Shape;417;p10"/>
          <p:cNvSpPr txBox="1"/>
          <p:nvPr/>
        </p:nvSpPr>
        <p:spPr>
          <a:xfrm>
            <a:off x="6652663" y="3143250"/>
            <a:ext cx="2050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Economic Value</a:t>
            </a:r>
            <a:endParaRPr/>
          </a:p>
        </p:txBody>
      </p:sp>
      <p:sp>
        <p:nvSpPr>
          <p:cNvPr id="418" name="Google Shape;418;p10"/>
          <p:cNvSpPr txBox="1"/>
          <p:nvPr/>
        </p:nvSpPr>
        <p:spPr>
          <a:xfrm>
            <a:off x="6652663" y="3609975"/>
            <a:ext cx="1952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90% cheaper than Polysomnography (PSG) tests, making quality care accessible to everyone.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419" name="Google Shape;419;p1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23738" y="25241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1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52663" y="25241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10" descr="A white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26660" y="24943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0"/>
          <p:cNvSpPr txBox="1"/>
          <p:nvPr/>
        </p:nvSpPr>
        <p:spPr>
          <a:xfrm>
            <a:off x="9481600" y="3517575"/>
            <a:ext cx="2294100" cy="1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</a:rPr>
              <a:t>Transforms the local node into a scalable, multi-device healthcare network. </a:t>
            </a:r>
            <a:endParaRPr sz="15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1"/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34" name="Google Shape;434;p11"/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>
          <a:extLst>
            <a:ext uri="{FF2B5EF4-FFF2-40B4-BE49-F238E27FC236}">
              <a16:creationId xmlns:a16="http://schemas.microsoft.com/office/drawing/2014/main" id="{4F353651-50C3-1BAE-F587-E28E6ADBB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1">
            <a:extLst>
              <a:ext uri="{FF2B5EF4-FFF2-40B4-BE49-F238E27FC236}">
                <a16:creationId xmlns:a16="http://schemas.microsoft.com/office/drawing/2014/main" id="{D7DD14D4-AC9B-1416-5743-D154EBD49D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886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">
            <a:extLst>
              <a:ext uri="{FF2B5EF4-FFF2-40B4-BE49-F238E27FC236}">
                <a16:creationId xmlns:a16="http://schemas.microsoft.com/office/drawing/2014/main" id="{21FBB971-67FA-5D16-E467-E8461EAD4F85}"/>
              </a:ext>
            </a:extLst>
          </p:cNvPr>
          <p:cNvSpPr txBox="1"/>
          <p:nvPr/>
        </p:nvSpPr>
        <p:spPr>
          <a:xfrm>
            <a:off x="652390" y="2749249"/>
            <a:ext cx="1107720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3600" b="1" dirty="0" err="1">
                <a:solidFill>
                  <a:srgbClr val="F37121"/>
                </a:solidFill>
              </a:rPr>
              <a:t>SomniGuard</a:t>
            </a:r>
            <a:r>
              <a:rPr lang="en-US" sz="3600" b="1" dirty="0">
                <a:solidFill>
                  <a:srgbClr val="F37121"/>
                </a:solidFill>
              </a:rPr>
              <a:t>: Edge AI-Powered </a:t>
            </a:r>
            <a:r>
              <a:rPr lang="vi-VN" sz="3600" b="1" dirty="0" err="1">
                <a:solidFill>
                  <a:srgbClr val="F37121"/>
                </a:solidFill>
              </a:rPr>
              <a:t>Closed-Loop</a:t>
            </a:r>
            <a:r>
              <a:rPr lang="vi-VN" sz="3600" b="1" dirty="0">
                <a:solidFill>
                  <a:srgbClr val="F37121"/>
                </a:solidFill>
              </a:rPr>
              <a:t> </a:t>
            </a:r>
            <a:r>
              <a:rPr lang="en-US" sz="3600" b="1" dirty="0">
                <a:solidFill>
                  <a:srgbClr val="F37121"/>
                </a:solidFill>
              </a:rPr>
              <a:t>Sleep Apnea </a:t>
            </a:r>
            <a:r>
              <a:rPr lang="vi-VN" sz="3600" b="1" dirty="0" err="1">
                <a:solidFill>
                  <a:srgbClr val="F37121"/>
                </a:solidFill>
              </a:rPr>
              <a:t>Detection</a:t>
            </a:r>
            <a:r>
              <a:rPr lang="vi-VN" sz="3600" b="1" dirty="0">
                <a:solidFill>
                  <a:srgbClr val="F37121"/>
                </a:solidFill>
              </a:rPr>
              <a:t> </a:t>
            </a:r>
            <a:r>
              <a:rPr lang="en-US" sz="3600" b="1" dirty="0">
                <a:solidFill>
                  <a:srgbClr val="F37121"/>
                </a:solidFill>
              </a:rPr>
              <a:t>&amp; </a:t>
            </a:r>
            <a:r>
              <a:rPr lang="vi-VN" sz="3600" b="1" dirty="0" err="1">
                <a:solidFill>
                  <a:srgbClr val="F37121"/>
                </a:solidFill>
              </a:rPr>
              <a:t>Tactile</a:t>
            </a:r>
            <a:r>
              <a:rPr lang="vi-VN" sz="3600" b="1" dirty="0">
                <a:solidFill>
                  <a:srgbClr val="F37121"/>
                </a:solidFill>
              </a:rPr>
              <a:t> </a:t>
            </a:r>
            <a:r>
              <a:rPr lang="en-US" sz="3600" b="1" dirty="0">
                <a:solidFill>
                  <a:srgbClr val="F37121"/>
                </a:solidFill>
              </a:rPr>
              <a:t>Intervention System 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3" name="Google Shape;243;p1">
            <a:extLst>
              <a:ext uri="{FF2B5EF4-FFF2-40B4-BE49-F238E27FC236}">
                <a16:creationId xmlns:a16="http://schemas.microsoft.com/office/drawing/2014/main" id="{7A8A910F-E333-14C8-7A56-2CCC57316277}"/>
              </a:ext>
            </a:extLst>
          </p:cNvPr>
          <p:cNvGrpSpPr/>
          <p:nvPr/>
        </p:nvGrpSpPr>
        <p:grpSpPr>
          <a:xfrm>
            <a:off x="652402" y="5861752"/>
            <a:ext cx="2899997" cy="482600"/>
            <a:chOff x="5181600" y="3683000"/>
            <a:chExt cx="2899997" cy="482600"/>
          </a:xfrm>
        </p:grpSpPr>
        <p:sp>
          <p:nvSpPr>
            <p:cNvPr id="244" name="Google Shape;244;p1">
              <a:extLst>
                <a:ext uri="{FF2B5EF4-FFF2-40B4-BE49-F238E27FC236}">
                  <a16:creationId xmlns:a16="http://schemas.microsoft.com/office/drawing/2014/main" id="{F233D169-7F38-57B7-042F-2B7EDA1904D1}"/>
                </a:ext>
              </a:extLst>
            </p:cNvPr>
            <p:cNvSpPr/>
            <p:nvPr/>
          </p:nvSpPr>
          <p:spPr>
            <a:xfrm>
              <a:off x="5181600" y="3683000"/>
              <a:ext cx="2169900" cy="482600"/>
            </a:xfrm>
            <a:prstGeom prst="roundRect">
              <a:avLst>
                <a:gd name="adj" fmla="val 50000"/>
              </a:avLst>
            </a:prstGeom>
            <a:solidFill>
              <a:srgbClr val="F37121">
                <a:alpha val="20000"/>
              </a:srgbClr>
            </a:solidFill>
            <a:ln w="12700" cap="flat" cmpd="sng">
              <a:solidFill>
                <a:srgbClr val="F3712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Quattrocento Sans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">
              <a:extLst>
                <a:ext uri="{FF2B5EF4-FFF2-40B4-BE49-F238E27FC236}">
                  <a16:creationId xmlns:a16="http://schemas.microsoft.com/office/drawing/2014/main" id="{5D6517CE-DDA7-20DE-D2F9-3B57388BABA2}"/>
                </a:ext>
              </a:extLst>
            </p:cNvPr>
            <p:cNvSpPr txBox="1"/>
            <p:nvPr/>
          </p:nvSpPr>
          <p:spPr>
            <a:xfrm>
              <a:off x="5628797" y="3754948"/>
              <a:ext cx="2452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May 7, 2026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6" name="Google Shape;246;p1">
            <a:extLst>
              <a:ext uri="{FF2B5EF4-FFF2-40B4-BE49-F238E27FC236}">
                <a16:creationId xmlns:a16="http://schemas.microsoft.com/office/drawing/2014/main" id="{C334F34B-6C88-59D6-B48A-AEC8065E3AEA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7" name="Google Shape;247;p1">
            <a:extLst>
              <a:ext uri="{FF2B5EF4-FFF2-40B4-BE49-F238E27FC236}">
                <a16:creationId xmlns:a16="http://schemas.microsoft.com/office/drawing/2014/main" id="{640D017C-B0F6-BDC9-2EA2-68643B8B1D41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8" name="Google Shape;248;p1">
            <a:extLst>
              <a:ext uri="{FF2B5EF4-FFF2-40B4-BE49-F238E27FC236}">
                <a16:creationId xmlns:a16="http://schemas.microsoft.com/office/drawing/2014/main" id="{AAA4A850-5191-AF26-ECF9-75C3708F8C50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9" name="Google Shape;249;p1">
            <a:extLst>
              <a:ext uri="{FF2B5EF4-FFF2-40B4-BE49-F238E27FC236}">
                <a16:creationId xmlns:a16="http://schemas.microsoft.com/office/drawing/2014/main" id="{C40CBA17-3D7F-C34C-9CD0-4B11EE7E4E88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0" name="Google Shape;250;p1">
            <a:extLst>
              <a:ext uri="{FF2B5EF4-FFF2-40B4-BE49-F238E27FC236}">
                <a16:creationId xmlns:a16="http://schemas.microsoft.com/office/drawing/2014/main" id="{EF6AB347-84EC-1F68-1513-7ECA1F155125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1" name="Google Shape;251;p1">
            <a:extLst>
              <a:ext uri="{FF2B5EF4-FFF2-40B4-BE49-F238E27FC236}">
                <a16:creationId xmlns:a16="http://schemas.microsoft.com/office/drawing/2014/main" id="{2DD91FEA-E6DF-EB9F-AC02-57A63227C633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2" name="Google Shape;252;p1">
            <a:extLst>
              <a:ext uri="{FF2B5EF4-FFF2-40B4-BE49-F238E27FC236}">
                <a16:creationId xmlns:a16="http://schemas.microsoft.com/office/drawing/2014/main" id="{7F6750F8-1F14-813F-8EB2-6FFD409ADF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53" name="Google Shape;253;p1">
            <a:extLst>
              <a:ext uri="{FF2B5EF4-FFF2-40B4-BE49-F238E27FC236}">
                <a16:creationId xmlns:a16="http://schemas.microsoft.com/office/drawing/2014/main" id="{134F313C-4817-42E0-0729-0065389C662B}"/>
              </a:ext>
            </a:extLst>
          </p:cNvPr>
          <p:cNvSpPr txBox="1"/>
          <p:nvPr/>
        </p:nvSpPr>
        <p:spPr>
          <a:xfrm>
            <a:off x="652390" y="4592621"/>
            <a:ext cx="11077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37121"/>
                </a:solidFill>
              </a:rPr>
              <a:t>Fantastic Five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1">
            <a:extLst>
              <a:ext uri="{FF2B5EF4-FFF2-40B4-BE49-F238E27FC236}">
                <a16:creationId xmlns:a16="http://schemas.microsoft.com/office/drawing/2014/main" id="{A469C1E7-FCF4-7F2A-4BA2-538D9C05FC6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27477" y="262288"/>
            <a:ext cx="4928750" cy="21349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3972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>
          <a:extLst>
            <a:ext uri="{FF2B5EF4-FFF2-40B4-BE49-F238E27FC236}">
              <a16:creationId xmlns:a16="http://schemas.microsoft.com/office/drawing/2014/main" id="{1B5A1D53-630D-86DC-51BE-EEB274200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054AFD7C-D44A-F44D-DA50-874F7E22E2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">
            <a:extLst>
              <a:ext uri="{FF2B5EF4-FFF2-40B4-BE49-F238E27FC236}">
                <a16:creationId xmlns:a16="http://schemas.microsoft.com/office/drawing/2014/main" id="{97BFF8B3-56F9-AB95-1BD8-49E6BC36EF7B}"/>
              </a:ext>
            </a:extLst>
          </p:cNvPr>
          <p:cNvSpPr txBox="1"/>
          <p:nvPr/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Table content</a:t>
            </a:r>
            <a:endParaRPr sz="2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">
            <a:extLst>
              <a:ext uri="{FF2B5EF4-FFF2-40B4-BE49-F238E27FC236}">
                <a16:creationId xmlns:a16="http://schemas.microsoft.com/office/drawing/2014/main" id="{675CA7DA-A4AC-EABF-64D1-F537E484E6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63" name="Google Shape;263;p2">
            <a:extLst>
              <a:ext uri="{FF2B5EF4-FFF2-40B4-BE49-F238E27FC236}">
                <a16:creationId xmlns:a16="http://schemas.microsoft.com/office/drawing/2014/main" id="{5E1C6A8C-4F6F-C33E-B59C-E85D39AAF8F6}"/>
              </a:ext>
            </a:extLst>
          </p:cNvPr>
          <p:cNvSpPr txBox="1"/>
          <p:nvPr/>
        </p:nvSpPr>
        <p:spPr>
          <a:xfrm>
            <a:off x="389641" y="1152950"/>
            <a:ext cx="262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</a:t>
            </a:r>
            <a:r>
              <a:rPr lang="en-US" sz="20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</a:t>
            </a:r>
            <a:r>
              <a:rPr lang="en-US" sz="2000" b="1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</a:t>
            </a:r>
            <a:endParaRPr sz="20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64" name="Google Shape;264;p2">
            <a:extLst>
              <a:ext uri="{FF2B5EF4-FFF2-40B4-BE49-F238E27FC236}">
                <a16:creationId xmlns:a16="http://schemas.microsoft.com/office/drawing/2014/main" id="{EDEF1C04-F2F2-2482-768D-5D7031B32787}"/>
              </a:ext>
            </a:extLst>
          </p:cNvPr>
          <p:cNvSpPr txBox="1"/>
          <p:nvPr/>
        </p:nvSpPr>
        <p:spPr>
          <a:xfrm>
            <a:off x="986037" y="1668450"/>
            <a:ext cx="3269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Introduction </a:t>
            </a:r>
            <a:endParaRPr sz="2000" b="1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265" name="Google Shape;265;p2">
            <a:extLst>
              <a:ext uri="{FF2B5EF4-FFF2-40B4-BE49-F238E27FC236}">
                <a16:creationId xmlns:a16="http://schemas.microsoft.com/office/drawing/2014/main" id="{B8C0F817-EE22-28F9-C5D3-C77887422D32}"/>
              </a:ext>
            </a:extLst>
          </p:cNvPr>
          <p:cNvSpPr txBox="1"/>
          <p:nvPr/>
        </p:nvSpPr>
        <p:spPr>
          <a:xfrm>
            <a:off x="986023" y="2254250"/>
            <a:ext cx="440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lang="en-US" sz="20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.Objective </a:t>
            </a:r>
            <a:endParaRPr sz="2000" b="1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266" name="Google Shape;266;p2">
            <a:extLst>
              <a:ext uri="{FF2B5EF4-FFF2-40B4-BE49-F238E27FC236}">
                <a16:creationId xmlns:a16="http://schemas.microsoft.com/office/drawing/2014/main" id="{A78CCFD1-3ABD-D7C4-C2EC-88ABDFDC292A}"/>
              </a:ext>
            </a:extLst>
          </p:cNvPr>
          <p:cNvSpPr txBox="1"/>
          <p:nvPr/>
        </p:nvSpPr>
        <p:spPr>
          <a:xfrm>
            <a:off x="7605874" y="1868550"/>
            <a:ext cx="400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r>
              <a:rPr lang="en-US" sz="20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.System Diagram</a:t>
            </a:r>
            <a:endParaRPr sz="2000" b="1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267" name="Google Shape;267;p2">
            <a:extLst>
              <a:ext uri="{FF2B5EF4-FFF2-40B4-BE49-F238E27FC236}">
                <a16:creationId xmlns:a16="http://schemas.microsoft.com/office/drawing/2014/main" id="{852E01B1-745E-78D5-27EB-9B1D790CB7B8}"/>
              </a:ext>
            </a:extLst>
          </p:cNvPr>
          <p:cNvSpPr txBox="1"/>
          <p:nvPr/>
        </p:nvSpPr>
        <p:spPr>
          <a:xfrm>
            <a:off x="7329180" y="2459621"/>
            <a:ext cx="580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r>
              <a:rPr lang="en-US" sz="20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.Resource Allocation</a:t>
            </a:r>
            <a:endParaRPr sz="2000" b="1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268" name="Google Shape;268;p2">
            <a:extLst>
              <a:ext uri="{FF2B5EF4-FFF2-40B4-BE49-F238E27FC236}">
                <a16:creationId xmlns:a16="http://schemas.microsoft.com/office/drawing/2014/main" id="{305C9D70-EB02-EFA0-0E4A-1E3F8C6E7EB5}"/>
              </a:ext>
            </a:extLst>
          </p:cNvPr>
          <p:cNvSpPr txBox="1"/>
          <p:nvPr/>
        </p:nvSpPr>
        <p:spPr>
          <a:xfrm>
            <a:off x="7142400" y="4175043"/>
            <a:ext cx="623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r>
              <a:rPr lang="en-US" sz="20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.Project Milestones</a:t>
            </a:r>
            <a:endParaRPr sz="2000" b="1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269" name="Google Shape;269;p2">
            <a:extLst>
              <a:ext uri="{FF2B5EF4-FFF2-40B4-BE49-F238E27FC236}">
                <a16:creationId xmlns:a16="http://schemas.microsoft.com/office/drawing/2014/main" id="{7D9FC7C9-2195-5523-79AF-455308794602}"/>
              </a:ext>
            </a:extLst>
          </p:cNvPr>
          <p:cNvSpPr txBox="1"/>
          <p:nvPr/>
        </p:nvSpPr>
        <p:spPr>
          <a:xfrm>
            <a:off x="7329180" y="2990587"/>
            <a:ext cx="339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6.Work Process </a:t>
            </a:r>
            <a:endParaRPr sz="20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70" name="Google Shape;270;p2">
            <a:extLst>
              <a:ext uri="{FF2B5EF4-FFF2-40B4-BE49-F238E27FC236}">
                <a16:creationId xmlns:a16="http://schemas.microsoft.com/office/drawing/2014/main" id="{8EF066D9-A12F-8055-282B-1E8100CC2DB3}"/>
              </a:ext>
            </a:extLst>
          </p:cNvPr>
          <p:cNvSpPr txBox="1"/>
          <p:nvPr/>
        </p:nvSpPr>
        <p:spPr>
          <a:xfrm>
            <a:off x="7142400" y="3553991"/>
            <a:ext cx="5049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7.Risk Management &amp; Additional Info </a:t>
            </a:r>
            <a:endParaRPr sz="2000" b="1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" name="Google Shape;265;p2">
            <a:extLst>
              <a:ext uri="{FF2B5EF4-FFF2-40B4-BE49-F238E27FC236}">
                <a16:creationId xmlns:a16="http://schemas.microsoft.com/office/drawing/2014/main" id="{DE17ABF5-ACFC-8AF7-DCF4-1F9561BBCF7B}"/>
              </a:ext>
            </a:extLst>
          </p:cNvPr>
          <p:cNvSpPr txBox="1"/>
          <p:nvPr/>
        </p:nvSpPr>
        <p:spPr>
          <a:xfrm>
            <a:off x="986023" y="2790487"/>
            <a:ext cx="440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20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r>
              <a:rPr lang="en-US" sz="20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lang="vi-VN" sz="2000" b="1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Somniguard</a:t>
            </a:r>
            <a:r>
              <a:rPr lang="vi-VN" sz="20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vi-VN" sz="2000" b="1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Solution</a:t>
            </a:r>
            <a:endParaRPr sz="2000" b="1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3" name="Google Shape;265;p2">
            <a:extLst>
              <a:ext uri="{FF2B5EF4-FFF2-40B4-BE49-F238E27FC236}">
                <a16:creationId xmlns:a16="http://schemas.microsoft.com/office/drawing/2014/main" id="{19B43374-9B36-DAE0-5A46-BAB7E1114D4A}"/>
              </a:ext>
            </a:extLst>
          </p:cNvPr>
          <p:cNvSpPr txBox="1"/>
          <p:nvPr/>
        </p:nvSpPr>
        <p:spPr>
          <a:xfrm>
            <a:off x="967872" y="3267114"/>
            <a:ext cx="440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20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r>
              <a:rPr lang="en-US" sz="20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lang="vi-VN" sz="2000" b="1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</a:t>
            </a:r>
            <a:r>
              <a:rPr lang="vi-VN" sz="20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vi-VN" sz="2000" b="1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Architecture</a:t>
            </a:r>
            <a:endParaRPr sz="2000" b="1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6" name="Google Shape;265;p2">
            <a:extLst>
              <a:ext uri="{FF2B5EF4-FFF2-40B4-BE49-F238E27FC236}">
                <a16:creationId xmlns:a16="http://schemas.microsoft.com/office/drawing/2014/main" id="{45E41A1A-9936-DF54-B657-84250F3E820D}"/>
              </a:ext>
            </a:extLst>
          </p:cNvPr>
          <p:cNvSpPr txBox="1"/>
          <p:nvPr/>
        </p:nvSpPr>
        <p:spPr>
          <a:xfrm>
            <a:off x="998477" y="3782614"/>
            <a:ext cx="440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20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r>
              <a:rPr lang="en-US" sz="20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lang="vi-VN" sz="2000" b="1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Edge</a:t>
            </a:r>
            <a:r>
              <a:rPr lang="vi-VN" sz="20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AI &amp; DSP </a:t>
            </a:r>
            <a:r>
              <a:rPr lang="vi-VN" sz="2000" b="1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Engineering</a:t>
            </a:r>
            <a:endParaRPr sz="2000" b="1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9" name="Google Shape;265;p2">
            <a:extLst>
              <a:ext uri="{FF2B5EF4-FFF2-40B4-BE49-F238E27FC236}">
                <a16:creationId xmlns:a16="http://schemas.microsoft.com/office/drawing/2014/main" id="{4A37C3D5-5C1B-0094-10DB-B885B9BA19A3}"/>
              </a:ext>
            </a:extLst>
          </p:cNvPr>
          <p:cNvSpPr txBox="1"/>
          <p:nvPr/>
        </p:nvSpPr>
        <p:spPr>
          <a:xfrm>
            <a:off x="986022" y="4229429"/>
            <a:ext cx="5262377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vi-VN" sz="20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r>
              <a:rPr lang="en-US" sz="20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lang="en-US" sz="2000" b="1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Hierachical</a:t>
            </a:r>
            <a:r>
              <a:rPr lang="en-US" sz="20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FSM &amp; Graduated Intervention</a:t>
            </a:r>
            <a:endParaRPr sz="2000" b="1" i="0" u="none" strike="noStrike" cap="non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468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>
          <a:extLst>
            <a:ext uri="{FF2B5EF4-FFF2-40B4-BE49-F238E27FC236}">
              <a16:creationId xmlns:a16="http://schemas.microsoft.com/office/drawing/2014/main" id="{C34A1A82-8AF1-3A0C-26F9-B8930B288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110e548b2_0_23">
            <a:extLst>
              <a:ext uri="{FF2B5EF4-FFF2-40B4-BE49-F238E27FC236}">
                <a16:creationId xmlns:a16="http://schemas.microsoft.com/office/drawing/2014/main" id="{7CAF3696-E34F-B0FC-78E9-4321B3952F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780" y="190527"/>
            <a:ext cx="105156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/>
              <a:t>Objective</a:t>
            </a:r>
          </a:p>
        </p:txBody>
      </p:sp>
      <p:sp>
        <p:nvSpPr>
          <p:cNvPr id="304" name="Google Shape;304;g3e110e548b2_0_23">
            <a:extLst>
              <a:ext uri="{FF2B5EF4-FFF2-40B4-BE49-F238E27FC236}">
                <a16:creationId xmlns:a16="http://schemas.microsoft.com/office/drawing/2014/main" id="{F2A28891-E73A-CBB0-44B0-B7FAA778C1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305" name="Google Shape;305;g3e110e548b2_0_23">
            <a:extLst>
              <a:ext uri="{FF2B5EF4-FFF2-40B4-BE49-F238E27FC236}">
                <a16:creationId xmlns:a16="http://schemas.microsoft.com/office/drawing/2014/main" id="{57665C99-572E-9A13-CCC2-76E28F04A051}"/>
              </a:ext>
            </a:extLst>
          </p:cNvPr>
          <p:cNvSpPr txBox="1"/>
          <p:nvPr/>
        </p:nvSpPr>
        <p:spPr>
          <a:xfrm>
            <a:off x="389580" y="1772893"/>
            <a:ext cx="10651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171450">
              <a:buClr>
                <a:schemeClr val="dk1"/>
              </a:buClr>
              <a:buSzPts val="1800"/>
            </a:pPr>
            <a:r>
              <a:rPr lang="vi-VN" sz="2200" b="1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Clinical</a:t>
            </a:r>
            <a:r>
              <a:rPr lang="vi-VN" sz="22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vi-VN" sz="2200" b="1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Foundation</a:t>
            </a:r>
            <a:endParaRPr sz="2200" b="1" i="0" u="none" strike="noStrike" cap="none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06" name="Google Shape;306;g3e110e548b2_0_23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60931B8C-BBC6-44C2-85C4-1C421EF398F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05;g3e110e548b2_0_23">
            <a:extLst>
              <a:ext uri="{FF2B5EF4-FFF2-40B4-BE49-F238E27FC236}">
                <a16:creationId xmlns:a16="http://schemas.microsoft.com/office/drawing/2014/main" id="{B9BF6120-62D6-F101-5AD4-45147312693A}"/>
              </a:ext>
            </a:extLst>
          </p:cNvPr>
          <p:cNvSpPr txBox="1"/>
          <p:nvPr/>
        </p:nvSpPr>
        <p:spPr>
          <a:xfrm>
            <a:off x="389580" y="1229510"/>
            <a:ext cx="10651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vi-VN" sz="2200" b="1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</a:t>
            </a:r>
            <a:endParaRPr sz="2200" b="1" i="0" u="none" strike="noStrike" cap="none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3240417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E8D63ED6-44A7-D2A1-F769-58CCEA936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">
            <a:extLst>
              <a:ext uri="{FF2B5EF4-FFF2-40B4-BE49-F238E27FC236}">
                <a16:creationId xmlns:a16="http://schemas.microsoft.com/office/drawing/2014/main" id="{CA9886FD-D19D-E6D6-B531-F53EC1691D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vi-VN"/>
              <a:t>Objective </a:t>
            </a:r>
            <a:endParaRPr lang="en-US" dirty="0"/>
          </a:p>
        </p:txBody>
      </p:sp>
      <p:sp>
        <p:nvSpPr>
          <p:cNvPr id="314" name="Google Shape;314;p5">
            <a:extLst>
              <a:ext uri="{FF2B5EF4-FFF2-40B4-BE49-F238E27FC236}">
                <a16:creationId xmlns:a16="http://schemas.microsoft.com/office/drawing/2014/main" id="{2B5967C2-FF2A-A7EA-C397-8EE4486CE8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315" name="Google Shape;315;p5">
            <a:extLst>
              <a:ext uri="{FF2B5EF4-FFF2-40B4-BE49-F238E27FC236}">
                <a16:creationId xmlns:a16="http://schemas.microsoft.com/office/drawing/2014/main" id="{C60489D2-454E-FA4C-61D8-D1D48CEB4CC1}"/>
              </a:ext>
            </a:extLst>
          </p:cNvPr>
          <p:cNvSpPr txBox="1"/>
          <p:nvPr/>
        </p:nvSpPr>
        <p:spPr>
          <a:xfrm>
            <a:off x="525775" y="1304497"/>
            <a:ext cx="609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16" name="Google Shape;316;p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13B22E5C-682E-B0FA-1E65-1D2168888E4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">
            <a:extLst>
              <a:ext uri="{FF2B5EF4-FFF2-40B4-BE49-F238E27FC236}">
                <a16:creationId xmlns:a16="http://schemas.microsoft.com/office/drawing/2014/main" id="{E6602EB4-921B-C7C1-E869-46AB75AA6017}"/>
              </a:ext>
            </a:extLst>
          </p:cNvPr>
          <p:cNvSpPr txBox="1"/>
          <p:nvPr/>
        </p:nvSpPr>
        <p:spPr>
          <a:xfrm>
            <a:off x="1791725" y="4907000"/>
            <a:ext cx="7859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/>
          </a:p>
        </p:txBody>
      </p:sp>
      <p:sp>
        <p:nvSpPr>
          <p:cNvPr id="318" name="Google Shape;318;p5">
            <a:extLst>
              <a:ext uri="{FF2B5EF4-FFF2-40B4-BE49-F238E27FC236}">
                <a16:creationId xmlns:a16="http://schemas.microsoft.com/office/drawing/2014/main" id="{0AC1ED65-2CEE-CB14-5E8B-F8256DA717AC}"/>
              </a:ext>
            </a:extLst>
          </p:cNvPr>
          <p:cNvSpPr txBox="1"/>
          <p:nvPr/>
        </p:nvSpPr>
        <p:spPr>
          <a:xfrm>
            <a:off x="962850" y="1654700"/>
            <a:ext cx="8055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" name="Google Shape;305;g3e110e548b2_0_23">
            <a:extLst>
              <a:ext uri="{FF2B5EF4-FFF2-40B4-BE49-F238E27FC236}">
                <a16:creationId xmlns:a16="http://schemas.microsoft.com/office/drawing/2014/main" id="{2CE78F60-8AAA-E857-A9F7-2583EC56F447}"/>
              </a:ext>
            </a:extLst>
          </p:cNvPr>
          <p:cNvSpPr txBox="1"/>
          <p:nvPr/>
        </p:nvSpPr>
        <p:spPr>
          <a:xfrm>
            <a:off x="162859" y="1262167"/>
            <a:ext cx="10651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vi-VN" sz="2200" b="1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</a:t>
            </a:r>
            <a:r>
              <a:rPr lang="vi-VN" sz="22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&amp; </a:t>
            </a:r>
            <a:r>
              <a:rPr lang="vi-VN" sz="2200" b="1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Clinical</a:t>
            </a:r>
            <a:r>
              <a:rPr lang="vi-VN" sz="22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vi-VN" sz="2200" b="1" dirty="0" err="1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Foundation</a:t>
            </a:r>
            <a:endParaRPr sz="2200" b="1" i="0" u="none" strike="noStrike" cap="none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2698837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7F0ED552-4B13-D656-AE65-E2DAA2B60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">
            <a:extLst>
              <a:ext uri="{FF2B5EF4-FFF2-40B4-BE49-F238E27FC236}">
                <a16:creationId xmlns:a16="http://schemas.microsoft.com/office/drawing/2014/main" id="{3677F9CE-4F7F-02FF-E2D3-9D585FC662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SomniGuard Solution</a:t>
            </a:r>
            <a:endParaRPr lang="en-US" dirty="0"/>
          </a:p>
        </p:txBody>
      </p:sp>
      <p:sp>
        <p:nvSpPr>
          <p:cNvPr id="314" name="Google Shape;314;p5">
            <a:extLst>
              <a:ext uri="{FF2B5EF4-FFF2-40B4-BE49-F238E27FC236}">
                <a16:creationId xmlns:a16="http://schemas.microsoft.com/office/drawing/2014/main" id="{496CEDAB-765D-82EA-375B-3E71CBE8A53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315" name="Google Shape;315;p5">
            <a:extLst>
              <a:ext uri="{FF2B5EF4-FFF2-40B4-BE49-F238E27FC236}">
                <a16:creationId xmlns:a16="http://schemas.microsoft.com/office/drawing/2014/main" id="{6E0ED0D0-9E31-4163-DF74-FE76851F6E46}"/>
              </a:ext>
            </a:extLst>
          </p:cNvPr>
          <p:cNvSpPr txBox="1"/>
          <p:nvPr/>
        </p:nvSpPr>
        <p:spPr>
          <a:xfrm>
            <a:off x="525775" y="1304497"/>
            <a:ext cx="609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16" name="Google Shape;316;p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6ABA33D2-F1FF-6A9B-13D6-1BEF5D20631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">
            <a:extLst>
              <a:ext uri="{FF2B5EF4-FFF2-40B4-BE49-F238E27FC236}">
                <a16:creationId xmlns:a16="http://schemas.microsoft.com/office/drawing/2014/main" id="{30225710-DC8C-05E2-F1C1-E3278F26CAC2}"/>
              </a:ext>
            </a:extLst>
          </p:cNvPr>
          <p:cNvSpPr txBox="1"/>
          <p:nvPr/>
        </p:nvSpPr>
        <p:spPr>
          <a:xfrm>
            <a:off x="1791725" y="4907000"/>
            <a:ext cx="7859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/>
          </a:p>
        </p:txBody>
      </p:sp>
      <p:sp>
        <p:nvSpPr>
          <p:cNvPr id="318" name="Google Shape;318;p5">
            <a:extLst>
              <a:ext uri="{FF2B5EF4-FFF2-40B4-BE49-F238E27FC236}">
                <a16:creationId xmlns:a16="http://schemas.microsoft.com/office/drawing/2014/main" id="{A22359C9-C36D-E17D-E31B-734E06060229}"/>
              </a:ext>
            </a:extLst>
          </p:cNvPr>
          <p:cNvSpPr txBox="1"/>
          <p:nvPr/>
        </p:nvSpPr>
        <p:spPr>
          <a:xfrm>
            <a:off x="962850" y="1654700"/>
            <a:ext cx="8055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2036476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6D54316E-4533-8F69-5088-597B61344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">
            <a:extLst>
              <a:ext uri="{FF2B5EF4-FFF2-40B4-BE49-F238E27FC236}">
                <a16:creationId xmlns:a16="http://schemas.microsoft.com/office/drawing/2014/main" id="{3C218EF6-A5AB-7383-55C1-FF2115ECB5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System Architecture</a:t>
            </a:r>
          </a:p>
        </p:txBody>
      </p:sp>
      <p:sp>
        <p:nvSpPr>
          <p:cNvPr id="314" name="Google Shape;314;p5">
            <a:extLst>
              <a:ext uri="{FF2B5EF4-FFF2-40B4-BE49-F238E27FC236}">
                <a16:creationId xmlns:a16="http://schemas.microsoft.com/office/drawing/2014/main" id="{2D3B6775-487C-4D4B-BC2C-C98ABA6CC0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315" name="Google Shape;315;p5">
            <a:extLst>
              <a:ext uri="{FF2B5EF4-FFF2-40B4-BE49-F238E27FC236}">
                <a16:creationId xmlns:a16="http://schemas.microsoft.com/office/drawing/2014/main" id="{547BFC1F-B590-E14A-2BB8-ABF946DC57FB}"/>
              </a:ext>
            </a:extLst>
          </p:cNvPr>
          <p:cNvSpPr txBox="1"/>
          <p:nvPr/>
        </p:nvSpPr>
        <p:spPr>
          <a:xfrm>
            <a:off x="525775" y="1304497"/>
            <a:ext cx="609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16" name="Google Shape;316;p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8906EAE6-71A9-C8DA-4643-BCBE627B83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">
            <a:extLst>
              <a:ext uri="{FF2B5EF4-FFF2-40B4-BE49-F238E27FC236}">
                <a16:creationId xmlns:a16="http://schemas.microsoft.com/office/drawing/2014/main" id="{4B117D58-5CB2-F974-1410-B5D6E4521952}"/>
              </a:ext>
            </a:extLst>
          </p:cNvPr>
          <p:cNvSpPr txBox="1"/>
          <p:nvPr/>
        </p:nvSpPr>
        <p:spPr>
          <a:xfrm>
            <a:off x="1791725" y="4907000"/>
            <a:ext cx="7859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/>
          </a:p>
        </p:txBody>
      </p:sp>
      <p:sp>
        <p:nvSpPr>
          <p:cNvPr id="318" name="Google Shape;318;p5">
            <a:extLst>
              <a:ext uri="{FF2B5EF4-FFF2-40B4-BE49-F238E27FC236}">
                <a16:creationId xmlns:a16="http://schemas.microsoft.com/office/drawing/2014/main" id="{9F117012-FE20-D8D5-5311-38998246D713}"/>
              </a:ext>
            </a:extLst>
          </p:cNvPr>
          <p:cNvSpPr txBox="1"/>
          <p:nvPr/>
        </p:nvSpPr>
        <p:spPr>
          <a:xfrm>
            <a:off x="962850" y="1654700"/>
            <a:ext cx="8055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1617219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E5E63BA0-6246-4327-7FC7-8F5EA0CED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">
            <a:extLst>
              <a:ext uri="{FF2B5EF4-FFF2-40B4-BE49-F238E27FC236}">
                <a16:creationId xmlns:a16="http://schemas.microsoft.com/office/drawing/2014/main" id="{C90180A3-82B3-D886-FDD2-BEED807101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Edge AI</a:t>
            </a:r>
            <a:br>
              <a:rPr lang="en-US" dirty="0"/>
            </a:br>
            <a:r>
              <a:rPr lang="en-US" dirty="0"/>
              <a:t>&amp; DSP Engineering</a:t>
            </a:r>
          </a:p>
        </p:txBody>
      </p:sp>
      <p:sp>
        <p:nvSpPr>
          <p:cNvPr id="314" name="Google Shape;314;p5">
            <a:extLst>
              <a:ext uri="{FF2B5EF4-FFF2-40B4-BE49-F238E27FC236}">
                <a16:creationId xmlns:a16="http://schemas.microsoft.com/office/drawing/2014/main" id="{C2B7B152-A99B-476A-5EB0-5A3EABE98D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315" name="Google Shape;315;p5">
            <a:extLst>
              <a:ext uri="{FF2B5EF4-FFF2-40B4-BE49-F238E27FC236}">
                <a16:creationId xmlns:a16="http://schemas.microsoft.com/office/drawing/2014/main" id="{4F5AB561-BFBD-9D38-7DAE-CFCB5D5ADE24}"/>
              </a:ext>
            </a:extLst>
          </p:cNvPr>
          <p:cNvSpPr txBox="1"/>
          <p:nvPr/>
        </p:nvSpPr>
        <p:spPr>
          <a:xfrm>
            <a:off x="525775" y="1304497"/>
            <a:ext cx="609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16" name="Google Shape;316;p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E47F981F-1B99-FA57-BB76-8E28D5D7CC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">
            <a:extLst>
              <a:ext uri="{FF2B5EF4-FFF2-40B4-BE49-F238E27FC236}">
                <a16:creationId xmlns:a16="http://schemas.microsoft.com/office/drawing/2014/main" id="{8008137E-C45F-6BDA-225D-51277C4849E8}"/>
              </a:ext>
            </a:extLst>
          </p:cNvPr>
          <p:cNvSpPr txBox="1"/>
          <p:nvPr/>
        </p:nvSpPr>
        <p:spPr>
          <a:xfrm>
            <a:off x="1791725" y="4907000"/>
            <a:ext cx="7859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/>
          </a:p>
        </p:txBody>
      </p:sp>
      <p:sp>
        <p:nvSpPr>
          <p:cNvPr id="318" name="Google Shape;318;p5">
            <a:extLst>
              <a:ext uri="{FF2B5EF4-FFF2-40B4-BE49-F238E27FC236}">
                <a16:creationId xmlns:a16="http://schemas.microsoft.com/office/drawing/2014/main" id="{986D1848-68F9-0D3B-595B-BF7672911F1C}"/>
              </a:ext>
            </a:extLst>
          </p:cNvPr>
          <p:cNvSpPr txBox="1"/>
          <p:nvPr/>
        </p:nvSpPr>
        <p:spPr>
          <a:xfrm>
            <a:off x="962850" y="1654700"/>
            <a:ext cx="8055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" name="Google Shape;305;g3e110e548b2_0_23">
            <a:extLst>
              <a:ext uri="{FF2B5EF4-FFF2-40B4-BE49-F238E27FC236}">
                <a16:creationId xmlns:a16="http://schemas.microsoft.com/office/drawing/2014/main" id="{1F78069B-069A-3042-B7DB-8B4673F363AE}"/>
              </a:ext>
            </a:extLst>
          </p:cNvPr>
          <p:cNvSpPr txBox="1"/>
          <p:nvPr/>
        </p:nvSpPr>
        <p:spPr>
          <a:xfrm>
            <a:off x="389580" y="1229510"/>
            <a:ext cx="10651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Edge AI </a:t>
            </a:r>
            <a:endParaRPr sz="2200" b="1" i="0" u="none" strike="noStrike" cap="none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" name="Google Shape;305;g3e110e548b2_0_23">
            <a:extLst>
              <a:ext uri="{FF2B5EF4-FFF2-40B4-BE49-F238E27FC236}">
                <a16:creationId xmlns:a16="http://schemas.microsoft.com/office/drawing/2014/main" id="{CE4EA520-69AC-CA6C-8F36-D91F85A73541}"/>
              </a:ext>
            </a:extLst>
          </p:cNvPr>
          <p:cNvSpPr txBox="1"/>
          <p:nvPr/>
        </p:nvSpPr>
        <p:spPr>
          <a:xfrm>
            <a:off x="389580" y="1772812"/>
            <a:ext cx="10651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DSP Engineering</a:t>
            </a:r>
            <a:endParaRPr sz="2200" b="1" i="0" u="none" strike="noStrike" cap="none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18147063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490F935B-4FFD-5715-3296-12C84F574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">
            <a:extLst>
              <a:ext uri="{FF2B5EF4-FFF2-40B4-BE49-F238E27FC236}">
                <a16:creationId xmlns:a16="http://schemas.microsoft.com/office/drawing/2014/main" id="{6E535BF4-6A4D-49E4-41CD-0C5C025817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Edge AI</a:t>
            </a:r>
            <a:br>
              <a:rPr lang="en-US" dirty="0"/>
            </a:br>
            <a:r>
              <a:rPr lang="en-US" dirty="0"/>
              <a:t>&amp; DSP Engineering</a:t>
            </a:r>
          </a:p>
        </p:txBody>
      </p:sp>
      <p:sp>
        <p:nvSpPr>
          <p:cNvPr id="314" name="Google Shape;314;p5">
            <a:extLst>
              <a:ext uri="{FF2B5EF4-FFF2-40B4-BE49-F238E27FC236}">
                <a16:creationId xmlns:a16="http://schemas.microsoft.com/office/drawing/2014/main" id="{20035BDC-2B3F-473D-159E-87520951B4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sp>
        <p:nvSpPr>
          <p:cNvPr id="315" name="Google Shape;315;p5">
            <a:extLst>
              <a:ext uri="{FF2B5EF4-FFF2-40B4-BE49-F238E27FC236}">
                <a16:creationId xmlns:a16="http://schemas.microsoft.com/office/drawing/2014/main" id="{6D503088-A49E-58AC-B377-20668F42B06C}"/>
              </a:ext>
            </a:extLst>
          </p:cNvPr>
          <p:cNvSpPr txBox="1"/>
          <p:nvPr/>
        </p:nvSpPr>
        <p:spPr>
          <a:xfrm>
            <a:off x="525775" y="1304497"/>
            <a:ext cx="609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16" name="Google Shape;316;p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A06A39BD-F2F1-7D08-291D-1EC84EBF62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">
            <a:extLst>
              <a:ext uri="{FF2B5EF4-FFF2-40B4-BE49-F238E27FC236}">
                <a16:creationId xmlns:a16="http://schemas.microsoft.com/office/drawing/2014/main" id="{2DC8E69D-DE49-752B-8BB8-A93EF4125631}"/>
              </a:ext>
            </a:extLst>
          </p:cNvPr>
          <p:cNvSpPr txBox="1"/>
          <p:nvPr/>
        </p:nvSpPr>
        <p:spPr>
          <a:xfrm>
            <a:off x="1791725" y="4907000"/>
            <a:ext cx="7859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/>
          </a:p>
        </p:txBody>
      </p:sp>
      <p:sp>
        <p:nvSpPr>
          <p:cNvPr id="318" name="Google Shape;318;p5">
            <a:extLst>
              <a:ext uri="{FF2B5EF4-FFF2-40B4-BE49-F238E27FC236}">
                <a16:creationId xmlns:a16="http://schemas.microsoft.com/office/drawing/2014/main" id="{EEF5A97C-B3F3-3275-476C-AEBD797F204C}"/>
              </a:ext>
            </a:extLst>
          </p:cNvPr>
          <p:cNvSpPr txBox="1"/>
          <p:nvPr/>
        </p:nvSpPr>
        <p:spPr>
          <a:xfrm>
            <a:off x="962850" y="1654700"/>
            <a:ext cx="8055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" name="Google Shape;305;g3e110e548b2_0_23">
            <a:extLst>
              <a:ext uri="{FF2B5EF4-FFF2-40B4-BE49-F238E27FC236}">
                <a16:creationId xmlns:a16="http://schemas.microsoft.com/office/drawing/2014/main" id="{1AA242B0-1A3B-86B2-A5FC-B2087AD1F513}"/>
              </a:ext>
            </a:extLst>
          </p:cNvPr>
          <p:cNvSpPr txBox="1"/>
          <p:nvPr/>
        </p:nvSpPr>
        <p:spPr>
          <a:xfrm>
            <a:off x="389580" y="1229510"/>
            <a:ext cx="10651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Edge AI </a:t>
            </a:r>
            <a:endParaRPr sz="2200" b="1" i="0" u="none" strike="noStrike" cap="none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26315663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D4BA41A3-6CA6-4CA3-5CAF-E8E20168C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">
            <a:extLst>
              <a:ext uri="{FF2B5EF4-FFF2-40B4-BE49-F238E27FC236}">
                <a16:creationId xmlns:a16="http://schemas.microsoft.com/office/drawing/2014/main" id="{A92636A5-8DD6-79E0-6349-474F7CF7CB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Edge AI</a:t>
            </a:r>
            <a:br>
              <a:rPr lang="en-US" dirty="0"/>
            </a:br>
            <a:r>
              <a:rPr lang="en-US" dirty="0"/>
              <a:t>&amp; DSP Engineering</a:t>
            </a:r>
          </a:p>
        </p:txBody>
      </p:sp>
      <p:sp>
        <p:nvSpPr>
          <p:cNvPr id="314" name="Google Shape;314;p5">
            <a:extLst>
              <a:ext uri="{FF2B5EF4-FFF2-40B4-BE49-F238E27FC236}">
                <a16:creationId xmlns:a16="http://schemas.microsoft.com/office/drawing/2014/main" id="{A30EC68B-E2F2-6826-11E8-33AB0FEE73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315" name="Google Shape;315;p5">
            <a:extLst>
              <a:ext uri="{FF2B5EF4-FFF2-40B4-BE49-F238E27FC236}">
                <a16:creationId xmlns:a16="http://schemas.microsoft.com/office/drawing/2014/main" id="{B0060013-7DB2-D056-E425-AD0481E63C9E}"/>
              </a:ext>
            </a:extLst>
          </p:cNvPr>
          <p:cNvSpPr txBox="1"/>
          <p:nvPr/>
        </p:nvSpPr>
        <p:spPr>
          <a:xfrm>
            <a:off x="525775" y="1304497"/>
            <a:ext cx="609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16" name="Google Shape;316;p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35EB471A-7395-A121-C319-E10FFD4178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">
            <a:extLst>
              <a:ext uri="{FF2B5EF4-FFF2-40B4-BE49-F238E27FC236}">
                <a16:creationId xmlns:a16="http://schemas.microsoft.com/office/drawing/2014/main" id="{40449DA8-62F2-6688-D216-E1AAC6C9400D}"/>
              </a:ext>
            </a:extLst>
          </p:cNvPr>
          <p:cNvSpPr txBox="1"/>
          <p:nvPr/>
        </p:nvSpPr>
        <p:spPr>
          <a:xfrm>
            <a:off x="1791725" y="4907000"/>
            <a:ext cx="7859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/>
          </a:p>
        </p:txBody>
      </p:sp>
      <p:sp>
        <p:nvSpPr>
          <p:cNvPr id="318" name="Google Shape;318;p5">
            <a:extLst>
              <a:ext uri="{FF2B5EF4-FFF2-40B4-BE49-F238E27FC236}">
                <a16:creationId xmlns:a16="http://schemas.microsoft.com/office/drawing/2014/main" id="{F8601E12-90ED-3BA0-5A0A-C90A313086DB}"/>
              </a:ext>
            </a:extLst>
          </p:cNvPr>
          <p:cNvSpPr txBox="1"/>
          <p:nvPr/>
        </p:nvSpPr>
        <p:spPr>
          <a:xfrm>
            <a:off x="962850" y="1654700"/>
            <a:ext cx="8055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" name="Google Shape;305;g3e110e548b2_0_23">
            <a:extLst>
              <a:ext uri="{FF2B5EF4-FFF2-40B4-BE49-F238E27FC236}">
                <a16:creationId xmlns:a16="http://schemas.microsoft.com/office/drawing/2014/main" id="{A7E1D7D9-C014-6FD9-9857-0893B90C099B}"/>
              </a:ext>
            </a:extLst>
          </p:cNvPr>
          <p:cNvSpPr txBox="1"/>
          <p:nvPr/>
        </p:nvSpPr>
        <p:spPr>
          <a:xfrm>
            <a:off x="389580" y="1229510"/>
            <a:ext cx="106518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DSP Engineering</a:t>
            </a:r>
            <a:endParaRPr sz="2200" b="1" i="0" u="none" strike="noStrike" cap="none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13926967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F92FAF5B-67E0-767C-3278-29B713649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">
            <a:extLst>
              <a:ext uri="{FF2B5EF4-FFF2-40B4-BE49-F238E27FC236}">
                <a16:creationId xmlns:a16="http://schemas.microsoft.com/office/drawing/2014/main" id="{9CF3903D-BAFD-83D8-9845-B1FD422F1F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7180" y="166113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Hierarchical FSM </a:t>
            </a:r>
            <a:br>
              <a:rPr lang="en-US" dirty="0"/>
            </a:br>
            <a:r>
              <a:rPr lang="en-US" dirty="0"/>
              <a:t>&amp; Graduated Intervention </a:t>
            </a:r>
          </a:p>
        </p:txBody>
      </p:sp>
      <p:sp>
        <p:nvSpPr>
          <p:cNvPr id="314" name="Google Shape;314;p5">
            <a:extLst>
              <a:ext uri="{FF2B5EF4-FFF2-40B4-BE49-F238E27FC236}">
                <a16:creationId xmlns:a16="http://schemas.microsoft.com/office/drawing/2014/main" id="{70BA2627-76EC-A851-B67F-9EEF57530A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sp>
        <p:nvSpPr>
          <p:cNvPr id="315" name="Google Shape;315;p5">
            <a:extLst>
              <a:ext uri="{FF2B5EF4-FFF2-40B4-BE49-F238E27FC236}">
                <a16:creationId xmlns:a16="http://schemas.microsoft.com/office/drawing/2014/main" id="{F5635062-9FA0-0649-6EB6-0E50124AF783}"/>
              </a:ext>
            </a:extLst>
          </p:cNvPr>
          <p:cNvSpPr txBox="1"/>
          <p:nvPr/>
        </p:nvSpPr>
        <p:spPr>
          <a:xfrm>
            <a:off x="525775" y="1304497"/>
            <a:ext cx="609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16" name="Google Shape;316;p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CE85F38A-6537-AE9C-3C8F-B25BB7720B8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">
            <a:extLst>
              <a:ext uri="{FF2B5EF4-FFF2-40B4-BE49-F238E27FC236}">
                <a16:creationId xmlns:a16="http://schemas.microsoft.com/office/drawing/2014/main" id="{97D1B9FA-655F-6A77-E795-B7A22D0D6EB9}"/>
              </a:ext>
            </a:extLst>
          </p:cNvPr>
          <p:cNvSpPr txBox="1"/>
          <p:nvPr/>
        </p:nvSpPr>
        <p:spPr>
          <a:xfrm>
            <a:off x="1791725" y="4907000"/>
            <a:ext cx="7859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/>
          </a:p>
        </p:txBody>
      </p:sp>
      <p:sp>
        <p:nvSpPr>
          <p:cNvPr id="318" name="Google Shape;318;p5">
            <a:extLst>
              <a:ext uri="{FF2B5EF4-FFF2-40B4-BE49-F238E27FC236}">
                <a16:creationId xmlns:a16="http://schemas.microsoft.com/office/drawing/2014/main" id="{8B7A9E4F-921D-1180-660C-AB12BE974E93}"/>
              </a:ext>
            </a:extLst>
          </p:cNvPr>
          <p:cNvSpPr txBox="1"/>
          <p:nvPr/>
        </p:nvSpPr>
        <p:spPr>
          <a:xfrm>
            <a:off x="962850" y="1654700"/>
            <a:ext cx="8055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722741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6F71F1AB-91C7-9BF2-E2F7-9AC31A308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">
            <a:extLst>
              <a:ext uri="{FF2B5EF4-FFF2-40B4-BE49-F238E27FC236}">
                <a16:creationId xmlns:a16="http://schemas.microsoft.com/office/drawing/2014/main" id="{8B3FA6CE-3F97-0E02-2480-4343D6E647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Accuracy Benchmark </a:t>
            </a:r>
            <a:br>
              <a:rPr lang="en-US"/>
            </a:br>
            <a:r>
              <a:rPr lang="en-US"/>
              <a:t>&amp; Clinical Validation</a:t>
            </a:r>
            <a:endParaRPr lang="en-US" dirty="0"/>
          </a:p>
        </p:txBody>
      </p:sp>
      <p:sp>
        <p:nvSpPr>
          <p:cNvPr id="314" name="Google Shape;314;p5">
            <a:extLst>
              <a:ext uri="{FF2B5EF4-FFF2-40B4-BE49-F238E27FC236}">
                <a16:creationId xmlns:a16="http://schemas.microsoft.com/office/drawing/2014/main" id="{E2CCD657-A25B-2E04-50AB-86CD7D38EB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  <p:sp>
        <p:nvSpPr>
          <p:cNvPr id="315" name="Google Shape;315;p5">
            <a:extLst>
              <a:ext uri="{FF2B5EF4-FFF2-40B4-BE49-F238E27FC236}">
                <a16:creationId xmlns:a16="http://schemas.microsoft.com/office/drawing/2014/main" id="{1C242B91-5065-A0B7-1062-39D6814383E8}"/>
              </a:ext>
            </a:extLst>
          </p:cNvPr>
          <p:cNvSpPr txBox="1"/>
          <p:nvPr/>
        </p:nvSpPr>
        <p:spPr>
          <a:xfrm>
            <a:off x="525775" y="1304497"/>
            <a:ext cx="609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16" name="Google Shape;316;p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1D68FE36-1CF2-4813-2302-1968457C05E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">
            <a:extLst>
              <a:ext uri="{FF2B5EF4-FFF2-40B4-BE49-F238E27FC236}">
                <a16:creationId xmlns:a16="http://schemas.microsoft.com/office/drawing/2014/main" id="{5C622236-C5A7-089A-C866-F67F66F8F6B9}"/>
              </a:ext>
            </a:extLst>
          </p:cNvPr>
          <p:cNvSpPr txBox="1"/>
          <p:nvPr/>
        </p:nvSpPr>
        <p:spPr>
          <a:xfrm>
            <a:off x="1791725" y="4907000"/>
            <a:ext cx="7859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/>
          </a:p>
        </p:txBody>
      </p:sp>
      <p:sp>
        <p:nvSpPr>
          <p:cNvPr id="318" name="Google Shape;318;p5">
            <a:extLst>
              <a:ext uri="{FF2B5EF4-FFF2-40B4-BE49-F238E27FC236}">
                <a16:creationId xmlns:a16="http://schemas.microsoft.com/office/drawing/2014/main" id="{F12C6AD9-F967-A3A6-B08B-394A5FABD903}"/>
              </a:ext>
            </a:extLst>
          </p:cNvPr>
          <p:cNvSpPr txBox="1"/>
          <p:nvPr/>
        </p:nvSpPr>
        <p:spPr>
          <a:xfrm>
            <a:off x="962850" y="1654700"/>
            <a:ext cx="8055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29604636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A1F51D15-58C3-0831-3A7C-C7CC9F938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">
            <a:extLst>
              <a:ext uri="{FF2B5EF4-FFF2-40B4-BE49-F238E27FC236}">
                <a16:creationId xmlns:a16="http://schemas.microsoft.com/office/drawing/2014/main" id="{44240191-74AC-E63E-6E8F-6140AB87D1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BLE Ecosystem </a:t>
            </a:r>
            <a:br>
              <a:rPr lang="en-US" dirty="0"/>
            </a:br>
            <a:r>
              <a:rPr lang="en-US" dirty="0"/>
              <a:t>&amp; Customizability</a:t>
            </a:r>
          </a:p>
        </p:txBody>
      </p:sp>
      <p:sp>
        <p:nvSpPr>
          <p:cNvPr id="314" name="Google Shape;314;p5">
            <a:extLst>
              <a:ext uri="{FF2B5EF4-FFF2-40B4-BE49-F238E27FC236}">
                <a16:creationId xmlns:a16="http://schemas.microsoft.com/office/drawing/2014/main" id="{C3861E9E-97A8-7795-C7E0-88D55EA544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sp>
        <p:nvSpPr>
          <p:cNvPr id="315" name="Google Shape;315;p5">
            <a:extLst>
              <a:ext uri="{FF2B5EF4-FFF2-40B4-BE49-F238E27FC236}">
                <a16:creationId xmlns:a16="http://schemas.microsoft.com/office/drawing/2014/main" id="{8FBFC2BB-F7E3-3E36-765A-63AAF3B07ABC}"/>
              </a:ext>
            </a:extLst>
          </p:cNvPr>
          <p:cNvSpPr txBox="1"/>
          <p:nvPr/>
        </p:nvSpPr>
        <p:spPr>
          <a:xfrm>
            <a:off x="525775" y="1304497"/>
            <a:ext cx="609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16" name="Google Shape;316;p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50275277-F933-069A-CBED-C79FBB670D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">
            <a:extLst>
              <a:ext uri="{FF2B5EF4-FFF2-40B4-BE49-F238E27FC236}">
                <a16:creationId xmlns:a16="http://schemas.microsoft.com/office/drawing/2014/main" id="{84F0A746-CFEC-812A-13D1-F681A7BD8468}"/>
              </a:ext>
            </a:extLst>
          </p:cNvPr>
          <p:cNvSpPr txBox="1"/>
          <p:nvPr/>
        </p:nvSpPr>
        <p:spPr>
          <a:xfrm>
            <a:off x="1791725" y="4907000"/>
            <a:ext cx="7859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/>
          </a:p>
        </p:txBody>
      </p:sp>
      <p:sp>
        <p:nvSpPr>
          <p:cNvPr id="318" name="Google Shape;318;p5">
            <a:extLst>
              <a:ext uri="{FF2B5EF4-FFF2-40B4-BE49-F238E27FC236}">
                <a16:creationId xmlns:a16="http://schemas.microsoft.com/office/drawing/2014/main" id="{1B7EB06A-7BF0-B9CE-5263-5DD1DE6F7EAD}"/>
              </a:ext>
            </a:extLst>
          </p:cNvPr>
          <p:cNvSpPr txBox="1"/>
          <p:nvPr/>
        </p:nvSpPr>
        <p:spPr>
          <a:xfrm>
            <a:off x="962850" y="1654700"/>
            <a:ext cx="8055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2935409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6F3F4111-3D12-A05E-C9F1-7020FBC66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">
            <a:extLst>
              <a:ext uri="{FF2B5EF4-FFF2-40B4-BE49-F238E27FC236}">
                <a16:creationId xmlns:a16="http://schemas.microsoft.com/office/drawing/2014/main" id="{E8132C03-CE77-E9A1-F40A-E62A9CBD78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Power Budget &amp; Impact</a:t>
            </a:r>
          </a:p>
        </p:txBody>
      </p:sp>
      <p:sp>
        <p:nvSpPr>
          <p:cNvPr id="314" name="Google Shape;314;p5">
            <a:extLst>
              <a:ext uri="{FF2B5EF4-FFF2-40B4-BE49-F238E27FC236}">
                <a16:creationId xmlns:a16="http://schemas.microsoft.com/office/drawing/2014/main" id="{9C100015-6101-938C-0828-487FBC1DA3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  <p:sp>
        <p:nvSpPr>
          <p:cNvPr id="315" name="Google Shape;315;p5">
            <a:extLst>
              <a:ext uri="{FF2B5EF4-FFF2-40B4-BE49-F238E27FC236}">
                <a16:creationId xmlns:a16="http://schemas.microsoft.com/office/drawing/2014/main" id="{5C7CA94B-8A6E-B870-3D5F-D5D57DB81848}"/>
              </a:ext>
            </a:extLst>
          </p:cNvPr>
          <p:cNvSpPr txBox="1"/>
          <p:nvPr/>
        </p:nvSpPr>
        <p:spPr>
          <a:xfrm>
            <a:off x="525775" y="1304497"/>
            <a:ext cx="609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16" name="Google Shape;316;p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100EB636-8AFE-3B3F-6BCC-7FC4D77DC14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">
            <a:extLst>
              <a:ext uri="{FF2B5EF4-FFF2-40B4-BE49-F238E27FC236}">
                <a16:creationId xmlns:a16="http://schemas.microsoft.com/office/drawing/2014/main" id="{20494A8F-A023-DB7F-3D46-75A52B6F58B5}"/>
              </a:ext>
            </a:extLst>
          </p:cNvPr>
          <p:cNvSpPr txBox="1"/>
          <p:nvPr/>
        </p:nvSpPr>
        <p:spPr>
          <a:xfrm>
            <a:off x="1791725" y="4907000"/>
            <a:ext cx="7859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/>
          </a:p>
        </p:txBody>
      </p:sp>
      <p:sp>
        <p:nvSpPr>
          <p:cNvPr id="318" name="Google Shape;318;p5">
            <a:extLst>
              <a:ext uri="{FF2B5EF4-FFF2-40B4-BE49-F238E27FC236}">
                <a16:creationId xmlns:a16="http://schemas.microsoft.com/office/drawing/2014/main" id="{BC12B543-2C3E-B4F2-61D7-A9F7E4A7E687}"/>
              </a:ext>
            </a:extLst>
          </p:cNvPr>
          <p:cNvSpPr txBox="1"/>
          <p:nvPr/>
        </p:nvSpPr>
        <p:spPr>
          <a:xfrm>
            <a:off x="962850" y="1654700"/>
            <a:ext cx="8055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4256761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F76E1EBF-2619-431B-CFC1-A3E15AAFA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">
            <a:extLst>
              <a:ext uri="{FF2B5EF4-FFF2-40B4-BE49-F238E27FC236}">
                <a16:creationId xmlns:a16="http://schemas.microsoft.com/office/drawing/2014/main" id="{8E7C8DFA-BED1-C605-0B74-FAA7538448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Project Roadmap </a:t>
            </a:r>
            <a:br>
              <a:rPr lang="en-US"/>
            </a:br>
            <a:r>
              <a:rPr lang="en-US"/>
              <a:t>&amp; Next Steps to Final</a:t>
            </a:r>
            <a:endParaRPr lang="en-US" dirty="0"/>
          </a:p>
        </p:txBody>
      </p:sp>
      <p:sp>
        <p:nvSpPr>
          <p:cNvPr id="314" name="Google Shape;314;p5">
            <a:extLst>
              <a:ext uri="{FF2B5EF4-FFF2-40B4-BE49-F238E27FC236}">
                <a16:creationId xmlns:a16="http://schemas.microsoft.com/office/drawing/2014/main" id="{E36B8C28-9C82-8236-35C8-BC71ED6698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sp>
        <p:nvSpPr>
          <p:cNvPr id="315" name="Google Shape;315;p5">
            <a:extLst>
              <a:ext uri="{FF2B5EF4-FFF2-40B4-BE49-F238E27FC236}">
                <a16:creationId xmlns:a16="http://schemas.microsoft.com/office/drawing/2014/main" id="{200AA4A2-0EB3-A1F8-BD47-2D2C4793E878}"/>
              </a:ext>
            </a:extLst>
          </p:cNvPr>
          <p:cNvSpPr txBox="1"/>
          <p:nvPr/>
        </p:nvSpPr>
        <p:spPr>
          <a:xfrm>
            <a:off x="525775" y="1304497"/>
            <a:ext cx="609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16" name="Google Shape;316;p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F5954D27-D4E7-B4A2-718E-CCEFD442C62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">
            <a:extLst>
              <a:ext uri="{FF2B5EF4-FFF2-40B4-BE49-F238E27FC236}">
                <a16:creationId xmlns:a16="http://schemas.microsoft.com/office/drawing/2014/main" id="{CED71CAD-916D-973C-F291-5BD86C1AEB67}"/>
              </a:ext>
            </a:extLst>
          </p:cNvPr>
          <p:cNvSpPr txBox="1"/>
          <p:nvPr/>
        </p:nvSpPr>
        <p:spPr>
          <a:xfrm>
            <a:off x="1791725" y="4907000"/>
            <a:ext cx="7859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/>
          </a:p>
        </p:txBody>
      </p:sp>
      <p:sp>
        <p:nvSpPr>
          <p:cNvPr id="318" name="Google Shape;318;p5">
            <a:extLst>
              <a:ext uri="{FF2B5EF4-FFF2-40B4-BE49-F238E27FC236}">
                <a16:creationId xmlns:a16="http://schemas.microsoft.com/office/drawing/2014/main" id="{85AA7C74-333B-6726-A475-27C4F67CE502}"/>
              </a:ext>
            </a:extLst>
          </p:cNvPr>
          <p:cNvSpPr txBox="1"/>
          <p:nvPr/>
        </p:nvSpPr>
        <p:spPr>
          <a:xfrm>
            <a:off x="962850" y="1654700"/>
            <a:ext cx="8055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5049637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64D6EEA9-7171-FA7C-408A-28C032E82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">
            <a:extLst>
              <a:ext uri="{FF2B5EF4-FFF2-40B4-BE49-F238E27FC236}">
                <a16:creationId xmlns:a16="http://schemas.microsoft.com/office/drawing/2014/main" id="{2334B225-C24A-799F-71E7-CB6C50C273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Summary &amp; Q&amp;A</a:t>
            </a:r>
          </a:p>
        </p:txBody>
      </p:sp>
      <p:sp>
        <p:nvSpPr>
          <p:cNvPr id="314" name="Google Shape;314;p5">
            <a:extLst>
              <a:ext uri="{FF2B5EF4-FFF2-40B4-BE49-F238E27FC236}">
                <a16:creationId xmlns:a16="http://schemas.microsoft.com/office/drawing/2014/main" id="{3F4ABEBB-680C-E8DE-649A-65D58FB344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  <p:sp>
        <p:nvSpPr>
          <p:cNvPr id="315" name="Google Shape;315;p5">
            <a:extLst>
              <a:ext uri="{FF2B5EF4-FFF2-40B4-BE49-F238E27FC236}">
                <a16:creationId xmlns:a16="http://schemas.microsoft.com/office/drawing/2014/main" id="{428EC047-F2E6-0371-EED2-F9CD834E8457}"/>
              </a:ext>
            </a:extLst>
          </p:cNvPr>
          <p:cNvSpPr txBox="1"/>
          <p:nvPr/>
        </p:nvSpPr>
        <p:spPr>
          <a:xfrm>
            <a:off x="525775" y="1304497"/>
            <a:ext cx="609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16" name="Google Shape;316;p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DCF166D6-5D7C-F99D-F700-40D7F5EDEA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">
            <a:extLst>
              <a:ext uri="{FF2B5EF4-FFF2-40B4-BE49-F238E27FC236}">
                <a16:creationId xmlns:a16="http://schemas.microsoft.com/office/drawing/2014/main" id="{E84FB79B-122C-7F85-50F5-AF58DDBA5D45}"/>
              </a:ext>
            </a:extLst>
          </p:cNvPr>
          <p:cNvSpPr txBox="1"/>
          <p:nvPr/>
        </p:nvSpPr>
        <p:spPr>
          <a:xfrm>
            <a:off x="1791725" y="4907000"/>
            <a:ext cx="7859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/>
          </a:p>
        </p:txBody>
      </p:sp>
      <p:sp>
        <p:nvSpPr>
          <p:cNvPr id="318" name="Google Shape;318;p5">
            <a:extLst>
              <a:ext uri="{FF2B5EF4-FFF2-40B4-BE49-F238E27FC236}">
                <a16:creationId xmlns:a16="http://schemas.microsoft.com/office/drawing/2014/main" id="{6C5E23AF-AF06-E484-CA63-27A0F9C2D901}"/>
              </a:ext>
            </a:extLst>
          </p:cNvPr>
          <p:cNvSpPr txBox="1"/>
          <p:nvPr/>
        </p:nvSpPr>
        <p:spPr>
          <a:xfrm>
            <a:off x="962850" y="1654700"/>
            <a:ext cx="8055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37258103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917DEF6A-32E1-6E87-3F5C-0C8296887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">
            <a:extLst>
              <a:ext uri="{FF2B5EF4-FFF2-40B4-BE49-F238E27FC236}">
                <a16:creationId xmlns:a16="http://schemas.microsoft.com/office/drawing/2014/main" id="{F236C1EF-F78E-EAC6-1455-11748F3487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780" y="190527"/>
            <a:ext cx="10515600" cy="711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vi-VN" dirty="0" err="1"/>
              <a:t>User</a:t>
            </a:r>
            <a:r>
              <a:rPr lang="vi-VN" dirty="0"/>
              <a:t> </a:t>
            </a:r>
            <a:r>
              <a:rPr lang="vi-VN" dirty="0" err="1"/>
              <a:t>Flow</a:t>
            </a:r>
            <a:endParaRPr lang="en-US" dirty="0"/>
          </a:p>
        </p:txBody>
      </p:sp>
      <p:sp>
        <p:nvSpPr>
          <p:cNvPr id="314" name="Google Shape;314;p5">
            <a:extLst>
              <a:ext uri="{FF2B5EF4-FFF2-40B4-BE49-F238E27FC236}">
                <a16:creationId xmlns:a16="http://schemas.microsoft.com/office/drawing/2014/main" id="{027C8075-1AB7-B322-B6CF-B77F36549C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  <p:sp>
        <p:nvSpPr>
          <p:cNvPr id="315" name="Google Shape;315;p5">
            <a:extLst>
              <a:ext uri="{FF2B5EF4-FFF2-40B4-BE49-F238E27FC236}">
                <a16:creationId xmlns:a16="http://schemas.microsoft.com/office/drawing/2014/main" id="{D1140DD4-E35C-EFC6-CF8C-43C246990BDB}"/>
              </a:ext>
            </a:extLst>
          </p:cNvPr>
          <p:cNvSpPr txBox="1"/>
          <p:nvPr/>
        </p:nvSpPr>
        <p:spPr>
          <a:xfrm>
            <a:off x="525775" y="1304497"/>
            <a:ext cx="609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16" name="Google Shape;316;p5" descr="A white logo with a black background&#10;&#10;AI-generated content may be incorrect.">
            <a:extLst>
              <a:ext uri="{FF2B5EF4-FFF2-40B4-BE49-F238E27FC236}">
                <a16:creationId xmlns:a16="http://schemas.microsoft.com/office/drawing/2014/main" id="{F5D3E458-AEF7-C779-4B94-C4FA7A8E4C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66460" y="283778"/>
            <a:ext cx="741889" cy="44048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">
            <a:extLst>
              <a:ext uri="{FF2B5EF4-FFF2-40B4-BE49-F238E27FC236}">
                <a16:creationId xmlns:a16="http://schemas.microsoft.com/office/drawing/2014/main" id="{27C99464-F641-EB0E-0D37-22166D20EB4B}"/>
              </a:ext>
            </a:extLst>
          </p:cNvPr>
          <p:cNvSpPr txBox="1"/>
          <p:nvPr/>
        </p:nvSpPr>
        <p:spPr>
          <a:xfrm>
            <a:off x="1791725" y="4907000"/>
            <a:ext cx="7859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/>
          </a:p>
        </p:txBody>
      </p:sp>
      <p:sp>
        <p:nvSpPr>
          <p:cNvPr id="318" name="Google Shape;318;p5">
            <a:extLst>
              <a:ext uri="{FF2B5EF4-FFF2-40B4-BE49-F238E27FC236}">
                <a16:creationId xmlns:a16="http://schemas.microsoft.com/office/drawing/2014/main" id="{10348FA0-169A-3576-51C6-073941651AE5}"/>
              </a:ext>
            </a:extLst>
          </p:cNvPr>
          <p:cNvSpPr txBox="1"/>
          <p:nvPr/>
        </p:nvSpPr>
        <p:spPr>
          <a:xfrm>
            <a:off x="962850" y="1654700"/>
            <a:ext cx="8055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  <p:extLst>
      <p:ext uri="{BB962C8B-B14F-4D97-AF65-F5344CB8AC3E}">
        <p14:creationId xmlns:p14="http://schemas.microsoft.com/office/powerpoint/2010/main" val="1357844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34EA2"/>
      </a:dk1>
      <a:lt1>
        <a:srgbClr val="FFFFFF"/>
      </a:lt1>
      <a:dk2>
        <a:srgbClr val="19226D"/>
      </a:dk2>
      <a:lt2>
        <a:srgbClr val="F37021"/>
      </a:lt2>
      <a:accent1>
        <a:srgbClr val="33B2C1"/>
      </a:accent1>
      <a:accent2>
        <a:srgbClr val="50B848"/>
      </a:accent2>
      <a:accent3>
        <a:srgbClr val="F2F2F2"/>
      </a:accent3>
      <a:accent4>
        <a:srgbClr val="BFBFBF"/>
      </a:accent4>
      <a:accent5>
        <a:srgbClr val="171616"/>
      </a:accent5>
      <a:accent6>
        <a:srgbClr val="AEABAB"/>
      </a:accent6>
      <a:hlink>
        <a:srgbClr val="F37021"/>
      </a:hlink>
      <a:folHlink>
        <a:srgbClr val="F3702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1246</Words>
  <Application>Microsoft Office PowerPoint</Application>
  <PresentationFormat>Widescreen</PresentationFormat>
  <Paragraphs>222</Paragraphs>
  <Slides>30</Slides>
  <Notes>30</Notes>
  <HiddenSlides>6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Calibri</vt:lpstr>
      <vt:lpstr>Urbanist</vt:lpstr>
      <vt:lpstr>Quattrocento Sans</vt:lpstr>
      <vt:lpstr>Arial</vt:lpstr>
      <vt:lpstr>Office Theme</vt:lpstr>
      <vt:lpstr>PowerPoint Presentation</vt:lpstr>
      <vt:lpstr>PowerPoint Presentation</vt:lpstr>
      <vt:lpstr>Introduction</vt:lpstr>
      <vt:lpstr>Objective</vt:lpstr>
      <vt:lpstr>Objective</vt:lpstr>
      <vt:lpstr>System Diagram</vt:lpstr>
      <vt:lpstr>System Diagram</vt:lpstr>
      <vt:lpstr>Resource Allocation</vt:lpstr>
      <vt:lpstr>Resource Allocation</vt:lpstr>
      <vt:lpstr>Project Milestones</vt:lpstr>
      <vt:lpstr>Work process</vt:lpstr>
      <vt:lpstr>Risk Management</vt:lpstr>
      <vt:lpstr>Human &amp; Business Impact </vt:lpstr>
      <vt:lpstr>PowerPoint Presentation</vt:lpstr>
      <vt:lpstr>PowerPoint Presentation</vt:lpstr>
      <vt:lpstr>PowerPoint Presentation</vt:lpstr>
      <vt:lpstr>Objective</vt:lpstr>
      <vt:lpstr>Objective </vt:lpstr>
      <vt:lpstr>SomniGuard Solution</vt:lpstr>
      <vt:lpstr>System Architecture</vt:lpstr>
      <vt:lpstr>Edge AI &amp; DSP Engineering</vt:lpstr>
      <vt:lpstr>Edge AI &amp; DSP Engineering</vt:lpstr>
      <vt:lpstr>Edge AI &amp; DSP Engineering</vt:lpstr>
      <vt:lpstr>Hierarchical FSM  &amp; Graduated Intervention </vt:lpstr>
      <vt:lpstr>Accuracy Benchmark  &amp; Clinical Validation</vt:lpstr>
      <vt:lpstr>BLE Ecosystem  &amp; Customizability</vt:lpstr>
      <vt:lpstr>Power Budget &amp; Impact</vt:lpstr>
      <vt:lpstr>Project Roadmap  &amp; Next Steps to Final</vt:lpstr>
      <vt:lpstr>Summary &amp; Q&amp;A</vt:lpstr>
      <vt:lpstr>User 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MSI</dc:creator>
  <cp:lastModifiedBy>Nhut Mai</cp:lastModifiedBy>
  <cp:revision>6</cp:revision>
  <dcterms:created xsi:type="dcterms:W3CDTF">2021-11-26T03:15:35Z</dcterms:created>
  <dcterms:modified xsi:type="dcterms:W3CDTF">2026-08-21T03:27:30Z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0x0101005F2B15C2287FFA4BA87440E6681DCCD5</vt:lpwstr>
  </property>
</Properties>
</file>